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3" r:id="rId3"/>
    <p:sldId id="257" r:id="rId4"/>
    <p:sldId id="258" r:id="rId5"/>
    <p:sldId id="259" r:id="rId6"/>
    <p:sldId id="260" r:id="rId7"/>
    <p:sldId id="261" r:id="rId8"/>
    <p:sldId id="262" r:id="rId9"/>
    <p:sldId id="264" r:id="rId10"/>
    <p:sldId id="265" r:id="rId11"/>
  </p:sldIdLst>
  <p:sldSz cx="12192000" cy="6858000"/>
  <p:notesSz cx="6858000" cy="12192000"/>
  <p:embeddedFontLst>
    <p:embeddedFont>
      <p:font typeface="Calibri" panose="020F0502020204030204" pitchFamily="34" charset="0"/>
      <p:regular r:id="rId13"/>
      <p:bold r:id="rId14"/>
      <p:italic r:id="rId15"/>
      <p:boldItalic r:id="rId16"/>
    </p:embeddedFont>
    <p:embeddedFont>
      <p:font typeface="Raleway" pitchFamily="2" charset="0"/>
      <p:regular r:id="rId17"/>
      <p:bold r:id="rId18"/>
      <p:italic r:id="rId19"/>
      <p:boldItalic r:id="rId20"/>
    </p:embeddedFont>
    <p:embeddedFont>
      <p:font typeface="Raleway Light" pitchFamily="2" charset="0"/>
      <p:regular r:id="rId21"/>
      <p:italic r:id="rId22"/>
    </p:embeddedFont>
    <p:embeddedFont>
      <p:font typeface="Roboto" panose="02000000000000000000" pitchFamily="2" charset="0"/>
      <p:regular r:id="rId23"/>
      <p:bold r:id="rId24"/>
      <p:italic r:id="rId25"/>
      <p:boldItalic r:id="rId26"/>
    </p:embeddedFont>
    <p:embeddedFont>
      <p:font typeface="Roboto Bold" panose="02000000000000000000" pitchFamily="2"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895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320899"/>
            <a:ext cx="10868745" cy="878483"/>
          </a:xfrm>
          <a:prstGeom prst="rect">
            <a:avLst/>
          </a:prstGeom>
          <a:noFill/>
          <a:ln/>
        </p:spPr>
        <p:txBody>
          <a:bodyPr wrap="square" lIns="0" tIns="0" rIns="0" bIns="0" rtlCol="0" anchor="t">
            <a:normAutofit/>
          </a:bodyPr>
          <a:lstStyle/>
          <a:p>
            <a:pPr marL="0" indent="0" algn="ctr">
              <a:lnSpc>
                <a:spcPct val="104000"/>
              </a:lnSpc>
              <a:buNone/>
            </a:pPr>
            <a:r>
              <a:rPr lang="en-US" sz="2750" dirty="0">
                <a:solidFill>
                  <a:srgbClr val="1B1B27"/>
                </a:solidFill>
                <a:latin typeface="Raleway" pitchFamily="34" charset="0"/>
                <a:ea typeface="Raleway" pitchFamily="34" charset="-122"/>
                <a:cs typeface="Raleway" pitchFamily="34" charset="-120"/>
              </a:rPr>
              <a:t>CampusPulse: Smart Classroom Monitoring and Energy Management</a:t>
            </a:r>
            <a:endParaRPr lang="en-US" sz="2750" dirty="0"/>
          </a:p>
        </p:txBody>
      </p:sp>
      <p:sp>
        <p:nvSpPr>
          <p:cNvPr id="3" name="Text 1"/>
          <p:cNvSpPr/>
          <p:nvPr/>
        </p:nvSpPr>
        <p:spPr>
          <a:xfrm>
            <a:off x="356682" y="2438301"/>
            <a:ext cx="11478330" cy="208062"/>
          </a:xfrm>
          <a:prstGeom prst="rect">
            <a:avLst/>
          </a:prstGeom>
          <a:noFill/>
          <a:ln/>
        </p:spPr>
        <p:txBody>
          <a:bodyPr wrap="none" lIns="0" tIns="0" rIns="0" bIns="0" rtlCol="0" anchor="t"/>
          <a:lstStyle/>
          <a:p>
            <a:pPr marL="0" indent="0" algn="ctr">
              <a:lnSpc>
                <a:spcPct val="123000"/>
              </a:lnSpc>
              <a:buNone/>
            </a:pPr>
            <a:r>
              <a:rPr lang="en-US" sz="1100" b="1" dirty="0">
                <a:solidFill>
                  <a:srgbClr val="3C3939"/>
                </a:solidFill>
                <a:latin typeface="Roboto Bold" pitchFamily="34" charset="0"/>
                <a:ea typeface="Roboto Bold" pitchFamily="34" charset="-122"/>
                <a:cs typeface="Roboto Bold" pitchFamily="34" charset="-120"/>
              </a:rPr>
              <a:t>Mini Project Proposal</a:t>
            </a:r>
            <a:endParaRPr lang="en-US" sz="1100" dirty="0"/>
          </a:p>
        </p:txBody>
      </p:sp>
      <p:sp>
        <p:nvSpPr>
          <p:cNvPr id="4" name="Shape 2"/>
          <p:cNvSpPr/>
          <p:nvPr/>
        </p:nvSpPr>
        <p:spPr>
          <a:xfrm>
            <a:off x="661475" y="2815828"/>
            <a:ext cx="10868745" cy="19050"/>
          </a:xfrm>
          <a:prstGeom prst="roundRect">
            <a:avLst>
              <a:gd name="adj" fmla="val 59999"/>
            </a:avLst>
          </a:prstGeom>
          <a:solidFill>
            <a:srgbClr val="3C3939">
              <a:alpha val="50000"/>
            </a:srgbClr>
          </a:solidFill>
          <a:ln/>
        </p:spPr>
      </p:sp>
      <p:sp>
        <p:nvSpPr>
          <p:cNvPr id="5" name="Shape 3"/>
          <p:cNvSpPr/>
          <p:nvPr/>
        </p:nvSpPr>
        <p:spPr>
          <a:xfrm>
            <a:off x="491419" y="2951608"/>
            <a:ext cx="5465328" cy="2532757"/>
          </a:xfrm>
          <a:prstGeom prst="roundRect">
            <a:avLst>
              <a:gd name="adj" fmla="val 3996"/>
            </a:avLst>
          </a:prstGeom>
          <a:solidFill>
            <a:srgbClr val="1B1B27">
              <a:alpha val="95000"/>
            </a:srgbClr>
          </a:solidFill>
          <a:ln/>
        </p:spPr>
      </p:sp>
      <p:sp>
        <p:nvSpPr>
          <p:cNvPr id="6" name="Text 4"/>
          <p:cNvSpPr/>
          <p:nvPr/>
        </p:nvSpPr>
        <p:spPr>
          <a:xfrm>
            <a:off x="700765" y="3123803"/>
            <a:ext cx="5184348" cy="219571"/>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Submitted By</a:t>
            </a:r>
            <a:endParaRPr lang="en-US" sz="1600" dirty="0"/>
          </a:p>
        </p:txBody>
      </p:sp>
      <p:sp>
        <p:nvSpPr>
          <p:cNvPr id="7" name="Text 5"/>
          <p:cNvSpPr/>
          <p:nvPr/>
        </p:nvSpPr>
        <p:spPr>
          <a:xfrm>
            <a:off x="700765" y="3462834"/>
            <a:ext cx="5184348" cy="416123"/>
          </a:xfrm>
          <a:prstGeom prst="rect">
            <a:avLst/>
          </a:prstGeom>
          <a:noFill/>
          <a:ln/>
        </p:spPr>
        <p:txBody>
          <a:bodyPr wrap="square" lIns="0" tIns="0" rIns="0" bIns="0" rtlCol="0" anchor="t">
            <a:noAutofit/>
          </a:bodyPr>
          <a:lstStyle/>
          <a:p>
            <a:pPr marL="0" indent="0" algn="l">
              <a:lnSpc>
                <a:spcPct val="123000"/>
              </a:lnSpc>
              <a:buNone/>
            </a:pPr>
            <a:r>
              <a:rPr lang="en-US" sz="1400" dirty="0">
                <a:solidFill>
                  <a:srgbClr val="FFFFFF"/>
                </a:solidFill>
                <a:latin typeface="Roboto" pitchFamily="34" charset="0"/>
                <a:ea typeface="Roboto" pitchFamily="34" charset="-122"/>
                <a:cs typeface="Roboto" pitchFamily="34" charset="-120"/>
              </a:rPr>
              <a:t>Soya Pradeep</a:t>
            </a:r>
            <a:endParaRPr lang="en-US" sz="1400" dirty="0"/>
          </a:p>
          <a:p>
            <a:pPr marL="0" indent="0" algn="l">
              <a:lnSpc>
                <a:spcPct val="123000"/>
              </a:lnSpc>
              <a:buNone/>
            </a:pPr>
            <a:r>
              <a:rPr lang="en-US" sz="1400" dirty="0">
                <a:solidFill>
                  <a:srgbClr val="FFFFFF"/>
                </a:solidFill>
                <a:latin typeface="Roboto" pitchFamily="34" charset="0"/>
                <a:ea typeface="Roboto" pitchFamily="34" charset="-122"/>
                <a:cs typeface="Roboto" pitchFamily="34" charset="-120"/>
              </a:rPr>
              <a:t>MAC25MCA-2052</a:t>
            </a:r>
            <a:endParaRPr lang="en-US" sz="1400" dirty="0"/>
          </a:p>
        </p:txBody>
      </p:sp>
      <p:sp>
        <p:nvSpPr>
          <p:cNvPr id="8" name="Text 6"/>
          <p:cNvSpPr/>
          <p:nvPr/>
        </p:nvSpPr>
        <p:spPr>
          <a:xfrm>
            <a:off x="700765" y="4192736"/>
            <a:ext cx="5184348" cy="219571"/>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Project Guide</a:t>
            </a:r>
            <a:endParaRPr lang="en-US" sz="1600" dirty="0"/>
          </a:p>
        </p:txBody>
      </p:sp>
      <p:sp>
        <p:nvSpPr>
          <p:cNvPr id="9" name="Text 7"/>
          <p:cNvSpPr/>
          <p:nvPr/>
        </p:nvSpPr>
        <p:spPr>
          <a:xfrm>
            <a:off x="700765" y="4488706"/>
            <a:ext cx="5793932" cy="208062"/>
          </a:xfrm>
          <a:prstGeom prst="rect">
            <a:avLst/>
          </a:prstGeom>
          <a:noFill/>
          <a:ln/>
        </p:spPr>
        <p:txBody>
          <a:bodyPr wrap="none" lIns="0" tIns="0" rIns="0" bIns="0" rtlCol="0" anchor="t"/>
          <a:lstStyle/>
          <a:p>
            <a:pPr marL="0" indent="0" algn="l">
              <a:lnSpc>
                <a:spcPct val="123000"/>
              </a:lnSpc>
              <a:buNone/>
            </a:pPr>
            <a:r>
              <a:rPr lang="en-US" sz="1600" dirty="0">
                <a:solidFill>
                  <a:srgbClr val="FFFFFF"/>
                </a:solidFill>
                <a:latin typeface="Roboto" pitchFamily="34" charset="0"/>
                <a:ea typeface="Roboto" pitchFamily="34" charset="-122"/>
                <a:cs typeface="Roboto" pitchFamily="34" charset="-120"/>
              </a:rPr>
              <a:t>Nisha Markose</a:t>
            </a:r>
            <a:endParaRPr lang="en-US" sz="1600" dirty="0"/>
          </a:p>
        </p:txBody>
      </p:sp>
      <p:pic>
        <p:nvPicPr>
          <p:cNvPr id="1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3643" y="3138686"/>
            <a:ext cx="281080" cy="281087"/>
          </a:xfrm>
          <a:prstGeom prst="rect">
            <a:avLst/>
          </a:prstGeom>
        </p:spPr>
      </p:pic>
      <p:sp>
        <p:nvSpPr>
          <p:cNvPr id="11" name="Text 8"/>
          <p:cNvSpPr/>
          <p:nvPr/>
        </p:nvSpPr>
        <p:spPr>
          <a:xfrm>
            <a:off x="6704043" y="3187005"/>
            <a:ext cx="4832527" cy="219571"/>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IoT Connectivity</a:t>
            </a:r>
            <a:endParaRPr lang="en-US" sz="1350" dirty="0"/>
          </a:p>
        </p:txBody>
      </p:sp>
      <p:sp>
        <p:nvSpPr>
          <p:cNvPr id="12" name="Text 9"/>
          <p:cNvSpPr/>
          <p:nvPr/>
        </p:nvSpPr>
        <p:spPr>
          <a:xfrm>
            <a:off x="6704043" y="3526036"/>
            <a:ext cx="4832527" cy="208062"/>
          </a:xfrm>
          <a:prstGeom prst="rect">
            <a:avLst/>
          </a:prstGeom>
          <a:noFill/>
          <a:ln/>
        </p:spPr>
        <p:txBody>
          <a:bodyPr wrap="none" lIns="0" tIns="0" rIns="0" bIns="0" rtlCol="0" anchor="t"/>
          <a:lstStyle/>
          <a:p>
            <a:pPr marL="0" indent="0" algn="l">
              <a:lnSpc>
                <a:spcPct val="123000"/>
              </a:lnSpc>
              <a:buNone/>
            </a:pPr>
            <a:r>
              <a:rPr lang="en-US" sz="1100" dirty="0">
                <a:solidFill>
                  <a:srgbClr val="3C3939"/>
                </a:solidFill>
                <a:latin typeface="Roboto" pitchFamily="34" charset="0"/>
                <a:ea typeface="Roboto" pitchFamily="34" charset="-122"/>
                <a:cs typeface="Roboto" pitchFamily="34" charset="-120"/>
              </a:rPr>
              <a:t>Sensor nodes communicate over Wi-Fi using HTTP REST protocol</a:t>
            </a:r>
            <a:endParaRPr lang="en-US" sz="1100" dirty="0"/>
          </a:p>
        </p:txBody>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3643" y="3973016"/>
            <a:ext cx="281080" cy="281087"/>
          </a:xfrm>
          <a:prstGeom prst="rect">
            <a:avLst/>
          </a:prstGeom>
        </p:spPr>
      </p:pic>
      <p:sp>
        <p:nvSpPr>
          <p:cNvPr id="14" name="Text 10"/>
          <p:cNvSpPr/>
          <p:nvPr/>
        </p:nvSpPr>
        <p:spPr>
          <a:xfrm>
            <a:off x="6704043" y="4021336"/>
            <a:ext cx="4832527" cy="219571"/>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Smart Sensing</a:t>
            </a:r>
            <a:endParaRPr lang="en-US" sz="1350" dirty="0"/>
          </a:p>
        </p:txBody>
      </p:sp>
      <p:sp>
        <p:nvSpPr>
          <p:cNvPr id="15" name="Text 11"/>
          <p:cNvSpPr/>
          <p:nvPr/>
        </p:nvSpPr>
        <p:spPr>
          <a:xfrm>
            <a:off x="6704043" y="4360366"/>
            <a:ext cx="4832527" cy="208062"/>
          </a:xfrm>
          <a:prstGeom prst="rect">
            <a:avLst/>
          </a:prstGeom>
          <a:noFill/>
          <a:ln/>
        </p:spPr>
        <p:txBody>
          <a:bodyPr wrap="none" lIns="0" tIns="0" rIns="0" bIns="0" rtlCol="0" anchor="t"/>
          <a:lstStyle/>
          <a:p>
            <a:pPr marL="0" indent="0" algn="l">
              <a:lnSpc>
                <a:spcPct val="123000"/>
              </a:lnSpc>
              <a:buNone/>
            </a:pPr>
            <a:r>
              <a:rPr lang="en-US" sz="1100" dirty="0">
                <a:solidFill>
                  <a:srgbClr val="3C3939"/>
                </a:solidFill>
                <a:latin typeface="Roboto" pitchFamily="34" charset="0"/>
                <a:ea typeface="Roboto" pitchFamily="34" charset="-122"/>
                <a:cs typeface="Roboto" pitchFamily="34" charset="-120"/>
              </a:rPr>
              <a:t>PIR, DHT22, and BH1750 sensors for occupancy and environment</a:t>
            </a:r>
            <a:endParaRPr lang="en-US" sz="1100" dirty="0"/>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73643" y="4807347"/>
            <a:ext cx="281080" cy="281087"/>
          </a:xfrm>
          <a:prstGeom prst="rect">
            <a:avLst/>
          </a:prstGeom>
        </p:spPr>
      </p:pic>
      <p:sp>
        <p:nvSpPr>
          <p:cNvPr id="17" name="Text 12"/>
          <p:cNvSpPr/>
          <p:nvPr/>
        </p:nvSpPr>
        <p:spPr>
          <a:xfrm>
            <a:off x="6704043" y="4855666"/>
            <a:ext cx="4832527" cy="219571"/>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Cloud Dashboard</a:t>
            </a:r>
            <a:endParaRPr lang="en-US" sz="1350" dirty="0"/>
          </a:p>
        </p:txBody>
      </p:sp>
      <p:sp>
        <p:nvSpPr>
          <p:cNvPr id="18" name="Text 13"/>
          <p:cNvSpPr/>
          <p:nvPr/>
        </p:nvSpPr>
        <p:spPr>
          <a:xfrm>
            <a:off x="6704043" y="5194697"/>
            <a:ext cx="4832527" cy="208062"/>
          </a:xfrm>
          <a:prstGeom prst="rect">
            <a:avLst/>
          </a:prstGeom>
          <a:noFill/>
          <a:ln/>
        </p:spPr>
        <p:txBody>
          <a:bodyPr wrap="none" lIns="0" tIns="0" rIns="0" bIns="0" rtlCol="0" anchor="t"/>
          <a:lstStyle/>
          <a:p>
            <a:pPr marL="0" indent="0" algn="l">
              <a:lnSpc>
                <a:spcPct val="123000"/>
              </a:lnSpc>
              <a:buNone/>
            </a:pPr>
            <a:r>
              <a:rPr lang="en-US" sz="1100" dirty="0">
                <a:solidFill>
                  <a:srgbClr val="3C3939"/>
                </a:solidFill>
                <a:latin typeface="Roboto" pitchFamily="34" charset="0"/>
                <a:ea typeface="Roboto" pitchFamily="34" charset="-122"/>
                <a:cs typeface="Roboto" pitchFamily="34" charset="-120"/>
              </a:rPr>
              <a:t>Django web application with real-time analytics and control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5410" y="1031809"/>
            <a:ext cx="10868745" cy="335955"/>
          </a:xfrm>
          <a:prstGeom prst="rect">
            <a:avLst/>
          </a:prstGeom>
          <a:noFill/>
          <a:ln/>
        </p:spPr>
        <p:txBody>
          <a:bodyPr wrap="none" lIns="0" tIns="0" rIns="0" bIns="0" rtlCol="0" anchor="t"/>
          <a:lstStyle/>
          <a:p>
            <a:pPr marL="0" indent="0" algn="l">
              <a:lnSpc>
                <a:spcPct val="104000"/>
              </a:lnSpc>
              <a:buNone/>
            </a:pPr>
            <a:r>
              <a:rPr lang="en-US" dirty="0">
                <a:solidFill>
                  <a:srgbClr val="1B1B27"/>
                </a:solidFill>
                <a:latin typeface="Raleway" pitchFamily="34" charset="0"/>
                <a:ea typeface="Raleway" pitchFamily="34" charset="-122"/>
                <a:cs typeface="Raleway" pitchFamily="34" charset="-120"/>
              </a:rPr>
              <a:t>Literature Survey</a:t>
            </a:r>
            <a:endParaRPr lang="en-US" dirty="0"/>
          </a:p>
        </p:txBody>
      </p:sp>
      <p:sp>
        <p:nvSpPr>
          <p:cNvPr id="3" name="Text 1"/>
          <p:cNvSpPr/>
          <p:nvPr/>
        </p:nvSpPr>
        <p:spPr>
          <a:xfrm>
            <a:off x="641759" y="1460698"/>
            <a:ext cx="11478330" cy="141883"/>
          </a:xfrm>
          <a:prstGeom prst="rect">
            <a:avLst/>
          </a:prstGeom>
          <a:noFill/>
          <a:ln/>
        </p:spPr>
        <p:txBody>
          <a:bodyPr wrap="none" lIns="0" tIns="0" rIns="0" bIns="0" rtlCol="0" anchor="t"/>
          <a:lstStyle/>
          <a:p>
            <a:pPr marL="0" indent="0" algn="l">
              <a:lnSpc>
                <a:spcPct val="110000"/>
              </a:lnSpc>
              <a:buNone/>
            </a:pPr>
            <a:r>
              <a:rPr lang="en-US" sz="1200" dirty="0">
                <a:solidFill>
                  <a:srgbClr val="3C3939"/>
                </a:solidFill>
                <a:latin typeface="Roboto" pitchFamily="34" charset="0"/>
                <a:ea typeface="Roboto" pitchFamily="34" charset="-122"/>
                <a:cs typeface="Roboto" pitchFamily="34" charset="-120"/>
              </a:rPr>
              <a:t>A review of recent IoT-based smart classroom and energy management research establishes the academic foundation and identifies the gaps addressed by </a:t>
            </a:r>
          </a:p>
          <a:p>
            <a:pPr marL="0" indent="0" algn="l">
              <a:lnSpc>
                <a:spcPct val="110000"/>
              </a:lnSpc>
              <a:buNone/>
            </a:pPr>
            <a:r>
              <a:rPr lang="en-US" sz="1200" dirty="0" err="1">
                <a:solidFill>
                  <a:srgbClr val="3C3939"/>
                </a:solidFill>
                <a:latin typeface="Roboto" pitchFamily="34" charset="0"/>
                <a:ea typeface="Roboto" pitchFamily="34" charset="-122"/>
                <a:cs typeface="Roboto" pitchFamily="34" charset="-120"/>
              </a:rPr>
              <a:t>CampusPulse</a:t>
            </a:r>
            <a:r>
              <a:rPr lang="en-US" sz="1200" dirty="0">
                <a:solidFill>
                  <a:srgbClr val="3C3939"/>
                </a:solidFill>
                <a:latin typeface="Roboto" pitchFamily="34" charset="0"/>
                <a:ea typeface="Roboto" pitchFamily="34" charset="-122"/>
                <a:cs typeface="Roboto" pitchFamily="34" charset="-120"/>
              </a:rPr>
              <a:t>. All three papers directly inform core design decisions.</a:t>
            </a:r>
            <a:endParaRPr lang="en-US" sz="1200" dirty="0"/>
          </a:p>
        </p:txBody>
      </p:sp>
      <p:sp>
        <p:nvSpPr>
          <p:cNvPr id="4" name="Shape 2"/>
          <p:cNvSpPr/>
          <p:nvPr/>
        </p:nvSpPr>
        <p:spPr>
          <a:xfrm>
            <a:off x="641759" y="2644312"/>
            <a:ext cx="10868745" cy="2655821"/>
          </a:xfrm>
          <a:prstGeom prst="roundRect">
            <a:avLst>
              <a:gd name="adj" fmla="val 1996"/>
            </a:avLst>
          </a:prstGeom>
          <a:noFill/>
          <a:ln w="6350">
            <a:solidFill>
              <a:srgbClr val="000000">
                <a:alpha val="8000"/>
              </a:srgbClr>
            </a:solidFill>
            <a:prstDash val="solid"/>
          </a:ln>
        </p:spPr>
      </p:sp>
      <p:sp>
        <p:nvSpPr>
          <p:cNvPr id="5" name="Shape 3"/>
          <p:cNvSpPr/>
          <p:nvPr/>
        </p:nvSpPr>
        <p:spPr>
          <a:xfrm>
            <a:off x="641759" y="2893913"/>
            <a:ext cx="10868745" cy="6719"/>
          </a:xfrm>
          <a:prstGeom prst="rect">
            <a:avLst/>
          </a:prstGeom>
          <a:solidFill>
            <a:srgbClr val="000000">
              <a:alpha val="8000"/>
            </a:srgbClr>
          </a:solidFill>
          <a:ln/>
        </p:spPr>
      </p:sp>
      <p:sp>
        <p:nvSpPr>
          <p:cNvPr id="6" name="Shape 4"/>
          <p:cNvSpPr/>
          <p:nvPr/>
        </p:nvSpPr>
        <p:spPr>
          <a:xfrm>
            <a:off x="641759" y="3564235"/>
            <a:ext cx="10868745" cy="6719"/>
          </a:xfrm>
          <a:prstGeom prst="rect">
            <a:avLst/>
          </a:prstGeom>
          <a:solidFill>
            <a:srgbClr val="000000">
              <a:alpha val="8000"/>
            </a:srgbClr>
          </a:solidFill>
          <a:ln/>
        </p:spPr>
      </p:sp>
      <p:sp>
        <p:nvSpPr>
          <p:cNvPr id="7" name="Shape 5"/>
          <p:cNvSpPr/>
          <p:nvPr/>
        </p:nvSpPr>
        <p:spPr>
          <a:xfrm>
            <a:off x="641759" y="4234557"/>
            <a:ext cx="10868745" cy="6719"/>
          </a:xfrm>
          <a:prstGeom prst="rect">
            <a:avLst/>
          </a:prstGeom>
          <a:solidFill>
            <a:srgbClr val="000000">
              <a:alpha val="8000"/>
            </a:srgbClr>
          </a:solidFill>
          <a:ln/>
        </p:spPr>
      </p:sp>
      <p:sp>
        <p:nvSpPr>
          <p:cNvPr id="8" name="Shape 6"/>
          <p:cNvSpPr/>
          <p:nvPr/>
        </p:nvSpPr>
        <p:spPr>
          <a:xfrm>
            <a:off x="2602471" y="2646065"/>
            <a:ext cx="6719" cy="2261989"/>
          </a:xfrm>
          <a:prstGeom prst="rect">
            <a:avLst/>
          </a:prstGeom>
          <a:solidFill>
            <a:srgbClr val="000000">
              <a:alpha val="8000"/>
            </a:srgbClr>
          </a:solidFill>
          <a:ln/>
        </p:spPr>
      </p:sp>
      <p:sp>
        <p:nvSpPr>
          <p:cNvPr id="9" name="Shape 7"/>
          <p:cNvSpPr/>
          <p:nvPr/>
        </p:nvSpPr>
        <p:spPr>
          <a:xfrm>
            <a:off x="4339351" y="2646065"/>
            <a:ext cx="6719" cy="2261989"/>
          </a:xfrm>
          <a:prstGeom prst="rect">
            <a:avLst/>
          </a:prstGeom>
          <a:solidFill>
            <a:srgbClr val="000000">
              <a:alpha val="8000"/>
            </a:srgbClr>
          </a:solidFill>
          <a:ln/>
        </p:spPr>
      </p:sp>
      <p:sp>
        <p:nvSpPr>
          <p:cNvPr id="10" name="Shape 8"/>
          <p:cNvSpPr/>
          <p:nvPr/>
        </p:nvSpPr>
        <p:spPr>
          <a:xfrm>
            <a:off x="6293415" y="2646065"/>
            <a:ext cx="6719" cy="2261989"/>
          </a:xfrm>
          <a:prstGeom prst="rect">
            <a:avLst/>
          </a:prstGeom>
          <a:solidFill>
            <a:srgbClr val="000000">
              <a:alpha val="8000"/>
            </a:srgbClr>
          </a:solidFill>
          <a:ln/>
        </p:spPr>
      </p:sp>
      <p:sp>
        <p:nvSpPr>
          <p:cNvPr id="11" name="Shape 9"/>
          <p:cNvSpPr/>
          <p:nvPr/>
        </p:nvSpPr>
        <p:spPr>
          <a:xfrm>
            <a:off x="9115920" y="2646065"/>
            <a:ext cx="6719" cy="2261989"/>
          </a:xfrm>
          <a:prstGeom prst="rect">
            <a:avLst/>
          </a:prstGeom>
          <a:solidFill>
            <a:srgbClr val="000000">
              <a:alpha val="8000"/>
            </a:srgbClr>
          </a:solidFill>
          <a:ln/>
        </p:spPr>
      </p:sp>
      <p:sp>
        <p:nvSpPr>
          <p:cNvPr id="12" name="Shape 10"/>
          <p:cNvSpPr/>
          <p:nvPr/>
        </p:nvSpPr>
        <p:spPr>
          <a:xfrm>
            <a:off x="673809" y="2644312"/>
            <a:ext cx="1954064" cy="241498"/>
          </a:xfrm>
          <a:prstGeom prst="rect">
            <a:avLst/>
          </a:prstGeom>
          <a:solidFill>
            <a:srgbClr val="1B1B27"/>
          </a:solidFill>
          <a:ln/>
        </p:spPr>
        <p:txBody>
          <a:bodyPr/>
          <a:lstStyle/>
          <a:p>
            <a:endParaRPr lang="en-IN" sz="900" dirty="0"/>
          </a:p>
        </p:txBody>
      </p:sp>
      <p:sp>
        <p:nvSpPr>
          <p:cNvPr id="13" name="Text 11"/>
          <p:cNvSpPr/>
          <p:nvPr/>
        </p:nvSpPr>
        <p:spPr>
          <a:xfrm>
            <a:off x="755858" y="2700635"/>
            <a:ext cx="2345572" cy="141883"/>
          </a:xfrm>
          <a:prstGeom prst="rect">
            <a:avLst/>
          </a:prstGeom>
          <a:noFill/>
          <a:ln/>
        </p:spPr>
        <p:txBody>
          <a:bodyPr wrap="none" lIns="0" tIns="0" rIns="0" bIns="0" rtlCol="0" anchor="t"/>
          <a:lstStyle/>
          <a:p>
            <a:pPr marL="0" indent="0" algn="l">
              <a:lnSpc>
                <a:spcPct val="110000"/>
              </a:lnSpc>
              <a:buNone/>
            </a:pPr>
            <a:r>
              <a:rPr lang="en-US" sz="900" b="1" dirty="0">
                <a:solidFill>
                  <a:srgbClr val="FFFFFF"/>
                </a:solidFill>
                <a:latin typeface="Roboto Bold" pitchFamily="34" charset="0"/>
                <a:ea typeface="Roboto Bold" pitchFamily="34" charset="-122"/>
                <a:cs typeface="Roboto Bold" pitchFamily="34" charset="-120"/>
              </a:rPr>
              <a:t>Paper</a:t>
            </a:r>
            <a:endParaRPr lang="en-US" sz="900" dirty="0"/>
          </a:p>
        </p:txBody>
      </p:sp>
      <p:sp>
        <p:nvSpPr>
          <p:cNvPr id="14" name="Shape 12"/>
          <p:cNvSpPr/>
          <p:nvPr/>
        </p:nvSpPr>
        <p:spPr>
          <a:xfrm>
            <a:off x="2621154" y="2644312"/>
            <a:ext cx="1736880" cy="241498"/>
          </a:xfrm>
          <a:prstGeom prst="rect">
            <a:avLst/>
          </a:prstGeom>
          <a:solidFill>
            <a:srgbClr val="1B1B27"/>
          </a:solidFill>
          <a:ln/>
        </p:spPr>
      </p:sp>
      <p:sp>
        <p:nvSpPr>
          <p:cNvPr id="15" name="Text 13"/>
          <p:cNvSpPr/>
          <p:nvPr/>
        </p:nvSpPr>
        <p:spPr>
          <a:xfrm>
            <a:off x="2713097" y="2700635"/>
            <a:ext cx="2125212" cy="141883"/>
          </a:xfrm>
          <a:prstGeom prst="rect">
            <a:avLst/>
          </a:prstGeom>
          <a:noFill/>
          <a:ln/>
        </p:spPr>
        <p:txBody>
          <a:bodyPr wrap="none" lIns="0" tIns="0" rIns="0" bIns="0" rtlCol="0" anchor="t"/>
          <a:lstStyle/>
          <a:p>
            <a:pPr marL="0" indent="0" algn="l">
              <a:lnSpc>
                <a:spcPct val="110000"/>
              </a:lnSpc>
              <a:buNone/>
            </a:pPr>
            <a:r>
              <a:rPr lang="en-US" sz="900" b="1" dirty="0">
                <a:solidFill>
                  <a:srgbClr val="FFFFFF"/>
                </a:solidFill>
                <a:latin typeface="Roboto Bold" pitchFamily="34" charset="0"/>
                <a:ea typeface="Roboto Bold" pitchFamily="34" charset="-122"/>
                <a:cs typeface="Roboto Bold" pitchFamily="34" charset="-120"/>
              </a:rPr>
              <a:t>Objective</a:t>
            </a:r>
            <a:endParaRPr lang="en-US" sz="900" dirty="0"/>
          </a:p>
        </p:txBody>
      </p:sp>
      <p:sp>
        <p:nvSpPr>
          <p:cNvPr id="16" name="Shape 14"/>
          <p:cNvSpPr/>
          <p:nvPr/>
        </p:nvSpPr>
        <p:spPr>
          <a:xfrm>
            <a:off x="4346070" y="2644312"/>
            <a:ext cx="1954064" cy="241498"/>
          </a:xfrm>
          <a:prstGeom prst="rect">
            <a:avLst/>
          </a:prstGeom>
          <a:solidFill>
            <a:srgbClr val="1B1B27"/>
          </a:solidFill>
          <a:ln/>
        </p:spPr>
      </p:sp>
      <p:sp>
        <p:nvSpPr>
          <p:cNvPr id="17" name="Text 15"/>
          <p:cNvSpPr/>
          <p:nvPr/>
        </p:nvSpPr>
        <p:spPr>
          <a:xfrm>
            <a:off x="4449977" y="2700635"/>
            <a:ext cx="2342397" cy="141883"/>
          </a:xfrm>
          <a:prstGeom prst="rect">
            <a:avLst/>
          </a:prstGeom>
          <a:noFill/>
          <a:ln/>
        </p:spPr>
        <p:txBody>
          <a:bodyPr wrap="none" lIns="0" tIns="0" rIns="0" bIns="0" rtlCol="0" anchor="t"/>
          <a:lstStyle/>
          <a:p>
            <a:pPr marL="0" indent="0" algn="l">
              <a:lnSpc>
                <a:spcPct val="110000"/>
              </a:lnSpc>
              <a:buNone/>
            </a:pPr>
            <a:r>
              <a:rPr lang="en-US" sz="900" b="1" dirty="0">
                <a:solidFill>
                  <a:srgbClr val="FFFFFF"/>
                </a:solidFill>
                <a:latin typeface="Roboto Bold" pitchFamily="34" charset="0"/>
                <a:ea typeface="Roboto Bold" pitchFamily="34" charset="-122"/>
                <a:cs typeface="Roboto Bold" pitchFamily="34" charset="-120"/>
              </a:rPr>
              <a:t>Methodology</a:t>
            </a:r>
            <a:endParaRPr lang="en-US" sz="900" dirty="0"/>
          </a:p>
        </p:txBody>
      </p:sp>
      <p:sp>
        <p:nvSpPr>
          <p:cNvPr id="18" name="Shape 16"/>
          <p:cNvSpPr/>
          <p:nvPr/>
        </p:nvSpPr>
        <p:spPr>
          <a:xfrm>
            <a:off x="6293415" y="2652415"/>
            <a:ext cx="2822504" cy="241498"/>
          </a:xfrm>
          <a:prstGeom prst="rect">
            <a:avLst/>
          </a:prstGeom>
          <a:solidFill>
            <a:srgbClr val="1B1B27"/>
          </a:solidFill>
          <a:ln/>
        </p:spPr>
        <p:txBody>
          <a:bodyPr/>
          <a:lstStyle/>
          <a:p>
            <a:endParaRPr lang="en-IN" dirty="0"/>
          </a:p>
        </p:txBody>
      </p:sp>
      <p:sp>
        <p:nvSpPr>
          <p:cNvPr id="19" name="Text 17"/>
          <p:cNvSpPr/>
          <p:nvPr/>
        </p:nvSpPr>
        <p:spPr>
          <a:xfrm>
            <a:off x="6404041" y="2700635"/>
            <a:ext cx="3210837" cy="141883"/>
          </a:xfrm>
          <a:prstGeom prst="rect">
            <a:avLst/>
          </a:prstGeom>
          <a:noFill/>
          <a:ln/>
        </p:spPr>
        <p:txBody>
          <a:bodyPr wrap="none" lIns="0" tIns="0" rIns="0" bIns="0" rtlCol="0" anchor="t"/>
          <a:lstStyle/>
          <a:p>
            <a:pPr marL="0" indent="0" algn="l">
              <a:lnSpc>
                <a:spcPct val="110000"/>
              </a:lnSpc>
              <a:buNone/>
            </a:pPr>
            <a:r>
              <a:rPr lang="en-US" sz="900" b="1" dirty="0">
                <a:solidFill>
                  <a:srgbClr val="FFFFFF"/>
                </a:solidFill>
                <a:latin typeface="Roboto Bold" pitchFamily="34" charset="0"/>
                <a:ea typeface="Roboto Bold" pitchFamily="34" charset="-122"/>
                <a:cs typeface="Roboto Bold" pitchFamily="34" charset="-120"/>
              </a:rPr>
              <a:t>Key Findings</a:t>
            </a:r>
            <a:endParaRPr lang="en-US" sz="900" dirty="0"/>
          </a:p>
        </p:txBody>
      </p:sp>
      <p:sp>
        <p:nvSpPr>
          <p:cNvPr id="20" name="Shape 18"/>
          <p:cNvSpPr/>
          <p:nvPr/>
        </p:nvSpPr>
        <p:spPr>
          <a:xfrm>
            <a:off x="9115920" y="2652415"/>
            <a:ext cx="2388235" cy="241498"/>
          </a:xfrm>
          <a:prstGeom prst="rect">
            <a:avLst/>
          </a:prstGeom>
          <a:solidFill>
            <a:srgbClr val="1B1B27"/>
          </a:solidFill>
          <a:ln/>
        </p:spPr>
      </p:sp>
      <p:sp>
        <p:nvSpPr>
          <p:cNvPr id="21" name="Text 19"/>
          <p:cNvSpPr/>
          <p:nvPr/>
        </p:nvSpPr>
        <p:spPr>
          <a:xfrm>
            <a:off x="9226546" y="2700635"/>
            <a:ext cx="2779742" cy="141883"/>
          </a:xfrm>
          <a:prstGeom prst="rect">
            <a:avLst/>
          </a:prstGeom>
          <a:noFill/>
          <a:ln/>
        </p:spPr>
        <p:txBody>
          <a:bodyPr wrap="none" lIns="0" tIns="0" rIns="0" bIns="0" rtlCol="0" anchor="t"/>
          <a:lstStyle/>
          <a:p>
            <a:pPr marL="0" indent="0" algn="l">
              <a:lnSpc>
                <a:spcPct val="110000"/>
              </a:lnSpc>
              <a:buNone/>
            </a:pPr>
            <a:r>
              <a:rPr lang="en-US" sz="900" b="1" dirty="0">
                <a:solidFill>
                  <a:srgbClr val="FFFFFF"/>
                </a:solidFill>
                <a:latin typeface="Roboto Bold" pitchFamily="34" charset="0"/>
                <a:ea typeface="Roboto Bold" pitchFamily="34" charset="-122"/>
                <a:cs typeface="Roboto Bold" pitchFamily="34" charset="-120"/>
              </a:rPr>
              <a:t>Relevance to CampusPulse</a:t>
            </a:r>
            <a:endParaRPr lang="en-US" sz="900" dirty="0"/>
          </a:p>
        </p:txBody>
      </p:sp>
      <p:sp>
        <p:nvSpPr>
          <p:cNvPr id="22" name="Text 20"/>
          <p:cNvSpPr/>
          <p:nvPr/>
        </p:nvSpPr>
        <p:spPr>
          <a:xfrm>
            <a:off x="755858" y="2945309"/>
            <a:ext cx="1735987" cy="567531"/>
          </a:xfrm>
          <a:prstGeom prst="rect">
            <a:avLst/>
          </a:prstGeom>
          <a:noFill/>
          <a:ln/>
        </p:spPr>
        <p:txBody>
          <a:bodyPr wrap="square" lIns="0" tIns="0" rIns="0" bIns="0" rtlCol="0" anchor="t">
            <a:noAutofit/>
          </a:bodyPr>
          <a:lstStyle/>
          <a:p>
            <a:pPr marL="0" indent="0" algn="l">
              <a:lnSpc>
                <a:spcPct val="110000"/>
              </a:lnSpc>
              <a:buNone/>
            </a:pPr>
            <a:r>
              <a:rPr lang="en-US" sz="900" b="1" dirty="0">
                <a:solidFill>
                  <a:srgbClr val="3C3939"/>
                </a:solidFill>
                <a:latin typeface="Roboto Bold" pitchFamily="34" charset="0"/>
                <a:ea typeface="Roboto Bold" pitchFamily="34" charset="-122"/>
                <a:cs typeface="Roboto Bold" pitchFamily="34" charset="-120"/>
              </a:rPr>
              <a:t>T. H. Noor et al. (2023)</a:t>
            </a:r>
            <a:endParaRPr lang="en-US" sz="900" dirty="0"/>
          </a:p>
          <a:p>
            <a:pPr marL="0" indent="0" algn="l">
              <a:lnSpc>
                <a:spcPct val="110000"/>
              </a:lnSpc>
              <a:buNone/>
            </a:pPr>
            <a:r>
              <a:rPr lang="en-US" sz="900" i="1" dirty="0">
                <a:solidFill>
                  <a:srgbClr val="3C3939"/>
                </a:solidFill>
                <a:latin typeface="Roboto" pitchFamily="34" charset="0"/>
                <a:ea typeface="Roboto" pitchFamily="34" charset="-122"/>
                <a:cs typeface="Roboto" pitchFamily="34" charset="-120"/>
              </a:rPr>
              <a:t>IoT-Based Energy Conservation Smart Classroom, Intelligent Automation &amp; Soft Computing</a:t>
            </a:r>
            <a:endParaRPr lang="en-US" sz="900" dirty="0"/>
          </a:p>
        </p:txBody>
      </p:sp>
      <p:sp>
        <p:nvSpPr>
          <p:cNvPr id="23" name="Text 21"/>
          <p:cNvSpPr/>
          <p:nvPr/>
        </p:nvSpPr>
        <p:spPr>
          <a:xfrm>
            <a:off x="2713097" y="2945309"/>
            <a:ext cx="1515628" cy="425648"/>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Automate energy conservation in smart classrooms using IoT sensors</a:t>
            </a:r>
            <a:endParaRPr lang="en-US" sz="900" dirty="0"/>
          </a:p>
        </p:txBody>
      </p:sp>
      <p:sp>
        <p:nvSpPr>
          <p:cNvPr id="24" name="Text 22"/>
          <p:cNvSpPr/>
          <p:nvPr/>
        </p:nvSpPr>
        <p:spPr>
          <a:xfrm>
            <a:off x="4449977" y="2945309"/>
            <a:ext cx="1732812" cy="425648"/>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PIR and environmental sensors with automated relay control; cloud-connected monitoring</a:t>
            </a:r>
            <a:endParaRPr lang="en-US" sz="900" dirty="0"/>
          </a:p>
        </p:txBody>
      </p:sp>
      <p:sp>
        <p:nvSpPr>
          <p:cNvPr id="25" name="Text 23"/>
          <p:cNvSpPr/>
          <p:nvPr/>
        </p:nvSpPr>
        <p:spPr>
          <a:xfrm>
            <a:off x="6404041" y="2945309"/>
            <a:ext cx="2601252" cy="283766"/>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Achieved significant reduction in energy wastage; demonstrated feasibility of sensor-driven automation</a:t>
            </a:r>
            <a:endParaRPr lang="en-US" sz="900" dirty="0"/>
          </a:p>
        </p:txBody>
      </p:sp>
      <p:sp>
        <p:nvSpPr>
          <p:cNvPr id="26" name="Text 24"/>
          <p:cNvSpPr/>
          <p:nvPr/>
        </p:nvSpPr>
        <p:spPr>
          <a:xfrm>
            <a:off x="9226546" y="2945309"/>
            <a:ext cx="2170157" cy="425648"/>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Validates PIR + relay approach; confirms cloud connectivity for classroom energy management</a:t>
            </a:r>
            <a:endParaRPr lang="en-US" sz="900" dirty="0"/>
          </a:p>
        </p:txBody>
      </p:sp>
      <p:sp>
        <p:nvSpPr>
          <p:cNvPr id="27" name="Text 25"/>
          <p:cNvSpPr/>
          <p:nvPr/>
        </p:nvSpPr>
        <p:spPr>
          <a:xfrm>
            <a:off x="755858" y="3615630"/>
            <a:ext cx="1735987" cy="425648"/>
          </a:xfrm>
          <a:prstGeom prst="rect">
            <a:avLst/>
          </a:prstGeom>
          <a:noFill/>
          <a:ln/>
        </p:spPr>
        <p:txBody>
          <a:bodyPr wrap="square" lIns="0" tIns="0" rIns="0" bIns="0" rtlCol="0" anchor="t">
            <a:noAutofit/>
          </a:bodyPr>
          <a:lstStyle/>
          <a:p>
            <a:pPr marL="0" indent="0" algn="l">
              <a:lnSpc>
                <a:spcPct val="110000"/>
              </a:lnSpc>
              <a:buNone/>
            </a:pPr>
            <a:r>
              <a:rPr lang="en-US" sz="900" b="1" dirty="0">
                <a:solidFill>
                  <a:srgbClr val="3C3939"/>
                </a:solidFill>
                <a:latin typeface="Roboto Bold" pitchFamily="34" charset="0"/>
                <a:ea typeface="Roboto Bold" pitchFamily="34" charset="-122"/>
                <a:cs typeface="Roboto Bold" pitchFamily="34" charset="-120"/>
              </a:rPr>
              <a:t>S. Y. Park et al. (2022)</a:t>
            </a:r>
            <a:endParaRPr lang="en-US" sz="900" dirty="0"/>
          </a:p>
          <a:p>
            <a:pPr marL="0" indent="0" algn="l">
              <a:lnSpc>
                <a:spcPct val="110000"/>
              </a:lnSpc>
              <a:buNone/>
            </a:pPr>
            <a:r>
              <a:rPr lang="en-US" sz="900" i="1" dirty="0">
                <a:solidFill>
                  <a:srgbClr val="3C3939"/>
                </a:solidFill>
                <a:latin typeface="Roboto" pitchFamily="34" charset="0"/>
                <a:ea typeface="Roboto" pitchFamily="34" charset="-122"/>
                <a:cs typeface="Roboto" pitchFamily="34" charset="-120"/>
              </a:rPr>
              <a:t>IoT-Based Smart Classroom Incubator, Applied Sciences</a:t>
            </a:r>
            <a:endParaRPr lang="en-US" sz="900" dirty="0"/>
          </a:p>
        </p:txBody>
      </p:sp>
      <p:sp>
        <p:nvSpPr>
          <p:cNvPr id="28" name="Text 26"/>
          <p:cNvSpPr/>
          <p:nvPr/>
        </p:nvSpPr>
        <p:spPr>
          <a:xfrm>
            <a:off x="2713097" y="3615630"/>
            <a:ext cx="1515628" cy="567531"/>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Design and implement an IoT-based smart classroom environment monitoring system</a:t>
            </a:r>
            <a:endParaRPr lang="en-US" sz="900" dirty="0"/>
          </a:p>
        </p:txBody>
      </p:sp>
      <p:sp>
        <p:nvSpPr>
          <p:cNvPr id="29" name="Text 27"/>
          <p:cNvSpPr/>
          <p:nvPr/>
        </p:nvSpPr>
        <p:spPr>
          <a:xfrm>
            <a:off x="4449977" y="3615630"/>
            <a:ext cx="1732812" cy="425648"/>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ESP-based microcontroller with DHT and light sensors; web-based dashboard for real-time data</a:t>
            </a:r>
            <a:endParaRPr lang="en-US" sz="900" dirty="0"/>
          </a:p>
        </p:txBody>
      </p:sp>
      <p:sp>
        <p:nvSpPr>
          <p:cNvPr id="30" name="Text 28"/>
          <p:cNvSpPr/>
          <p:nvPr/>
        </p:nvSpPr>
        <p:spPr>
          <a:xfrm>
            <a:off x="6404041" y="3615630"/>
            <a:ext cx="2601252" cy="283766"/>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Real-time environmental data improved classroom comfort; low-cost hardware proved effective</a:t>
            </a:r>
            <a:endParaRPr lang="en-US" sz="900" dirty="0"/>
          </a:p>
        </p:txBody>
      </p:sp>
      <p:sp>
        <p:nvSpPr>
          <p:cNvPr id="31" name="Text 29"/>
          <p:cNvSpPr/>
          <p:nvPr/>
        </p:nvSpPr>
        <p:spPr>
          <a:xfrm>
            <a:off x="9226546" y="3615630"/>
            <a:ext cx="2170157" cy="425648"/>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C3939"/>
                </a:solidFill>
                <a:latin typeface="Roboto" pitchFamily="34" charset="0"/>
                <a:ea typeface="Roboto" pitchFamily="34" charset="-122"/>
                <a:cs typeface="Roboto" pitchFamily="34" charset="-120"/>
              </a:rPr>
              <a:t>Supports use of DHT22 and BH1750; confirms Django-style web dashboard for sensor visualization</a:t>
            </a:r>
            <a:endParaRPr lang="en-US" sz="900" dirty="0"/>
          </a:p>
        </p:txBody>
      </p:sp>
      <p:sp>
        <p:nvSpPr>
          <p:cNvPr id="32" name="Text 30"/>
          <p:cNvSpPr/>
          <p:nvPr/>
        </p:nvSpPr>
        <p:spPr>
          <a:xfrm>
            <a:off x="752683" y="4285952"/>
            <a:ext cx="1735987" cy="797057"/>
          </a:xfrm>
          <a:prstGeom prst="rect">
            <a:avLst/>
          </a:prstGeom>
          <a:noFill/>
          <a:ln/>
        </p:spPr>
        <p:txBody>
          <a:bodyPr wrap="square" lIns="0" tIns="0" rIns="0" bIns="0" rtlCol="0" anchor="t">
            <a:noAutofit/>
          </a:bodyPr>
          <a:lstStyle/>
          <a:p>
            <a:pPr marL="0" indent="0" algn="l">
              <a:lnSpc>
                <a:spcPct val="110000"/>
              </a:lnSpc>
              <a:buNone/>
            </a:pPr>
            <a:r>
              <a:rPr lang="en-US" sz="900" b="1" dirty="0">
                <a:latin typeface="Roboto" panose="02000000000000000000" pitchFamily="2" charset="0"/>
                <a:ea typeface="Roboto" panose="02000000000000000000" pitchFamily="2" charset="0"/>
              </a:rPr>
              <a:t>L. Monti et al. (2022) </a:t>
            </a:r>
          </a:p>
          <a:p>
            <a:pPr marL="0" indent="0" algn="l">
              <a:lnSpc>
                <a:spcPct val="110000"/>
              </a:lnSpc>
              <a:buNone/>
            </a:pPr>
            <a:r>
              <a:rPr lang="en-US" sz="900" dirty="0">
                <a:latin typeface="Roboto" panose="02000000000000000000" pitchFamily="2" charset="0"/>
                <a:ea typeface="Roboto" panose="02000000000000000000" pitchFamily="2" charset="0"/>
              </a:rPr>
              <a:t>Edge-Based Transfer Learning for Classroom Occupancy Detection in a Smart Campus Context</a:t>
            </a:r>
          </a:p>
        </p:txBody>
      </p:sp>
      <p:sp>
        <p:nvSpPr>
          <p:cNvPr id="33" name="Text 31"/>
          <p:cNvSpPr/>
          <p:nvPr/>
        </p:nvSpPr>
        <p:spPr>
          <a:xfrm>
            <a:off x="2713097" y="4285952"/>
            <a:ext cx="1515628" cy="567531"/>
          </a:xfrm>
          <a:prstGeom prst="rect">
            <a:avLst/>
          </a:prstGeom>
          <a:noFill/>
          <a:ln/>
        </p:spPr>
        <p:txBody>
          <a:bodyPr wrap="square" lIns="0" tIns="0" rIns="0" bIns="0" rtlCol="0" anchor="t">
            <a:noAutofit/>
          </a:bodyPr>
          <a:lstStyle/>
          <a:p>
            <a:pPr marL="0" indent="0" algn="l">
              <a:lnSpc>
                <a:spcPct val="110000"/>
              </a:lnSpc>
              <a:buNone/>
            </a:pPr>
            <a:r>
              <a:rPr lang="en-US" sz="900" dirty="0">
                <a:latin typeface="Roboto" panose="02000000000000000000" pitchFamily="2" charset="0"/>
                <a:ea typeface="Roboto" panose="02000000000000000000" pitchFamily="2" charset="0"/>
              </a:rPr>
              <a:t>Develop an edge-based system for accurate classroom occupancy detection in a smart campus.</a:t>
            </a:r>
          </a:p>
        </p:txBody>
      </p:sp>
      <p:sp>
        <p:nvSpPr>
          <p:cNvPr id="34" name="Text 32"/>
          <p:cNvSpPr/>
          <p:nvPr/>
        </p:nvSpPr>
        <p:spPr>
          <a:xfrm>
            <a:off x="4449977" y="4285952"/>
            <a:ext cx="1732812" cy="425648"/>
          </a:xfrm>
          <a:prstGeom prst="rect">
            <a:avLst/>
          </a:prstGeom>
          <a:noFill/>
          <a:ln/>
        </p:spPr>
        <p:txBody>
          <a:bodyPr wrap="square" lIns="0" tIns="0" rIns="0" bIns="0" rtlCol="0" anchor="t">
            <a:noAutofit/>
          </a:bodyPr>
          <a:lstStyle/>
          <a:p>
            <a:pPr marL="0" indent="0" algn="l">
              <a:lnSpc>
                <a:spcPct val="110000"/>
              </a:lnSpc>
              <a:buNone/>
            </a:pPr>
            <a:r>
              <a:rPr lang="en-US" sz="900" dirty="0">
                <a:latin typeface="Roboto" panose="02000000000000000000" pitchFamily="2" charset="0"/>
                <a:ea typeface="Roboto" panose="02000000000000000000" pitchFamily="2" charset="0"/>
              </a:rPr>
              <a:t>Used Intel RealSense depth cameras with an edge-computing architecture and a transfer learning approach based on YOLOv3 for occupancy detection.</a:t>
            </a:r>
          </a:p>
        </p:txBody>
      </p:sp>
      <p:sp>
        <p:nvSpPr>
          <p:cNvPr id="35" name="Text 33"/>
          <p:cNvSpPr/>
          <p:nvPr/>
        </p:nvSpPr>
        <p:spPr>
          <a:xfrm>
            <a:off x="6404041" y="4285952"/>
            <a:ext cx="2601252" cy="283766"/>
          </a:xfrm>
          <a:prstGeom prst="rect">
            <a:avLst/>
          </a:prstGeom>
          <a:noFill/>
          <a:ln/>
        </p:spPr>
        <p:txBody>
          <a:bodyPr wrap="square" lIns="0" tIns="0" rIns="0" bIns="0" rtlCol="0" anchor="t">
            <a:noAutofit/>
          </a:bodyPr>
          <a:lstStyle/>
          <a:p>
            <a:pPr marL="0" indent="0" algn="l">
              <a:lnSpc>
                <a:spcPct val="110000"/>
              </a:lnSpc>
              <a:buNone/>
            </a:pPr>
            <a:r>
              <a:rPr lang="en-US" sz="900" dirty="0">
                <a:latin typeface="Roboto" panose="02000000000000000000" pitchFamily="2" charset="0"/>
                <a:ea typeface="Roboto" panose="02000000000000000000" pitchFamily="2" charset="0"/>
              </a:rPr>
              <a:t>Achieved high occupancy detection accuracy while maintaining privacy, scalability, and low-cost deployment for smart campus environments.</a:t>
            </a:r>
          </a:p>
        </p:txBody>
      </p:sp>
      <p:sp>
        <p:nvSpPr>
          <p:cNvPr id="36" name="Text 34"/>
          <p:cNvSpPr/>
          <p:nvPr/>
        </p:nvSpPr>
        <p:spPr>
          <a:xfrm>
            <a:off x="9226546" y="4285952"/>
            <a:ext cx="2170157" cy="425648"/>
          </a:xfrm>
          <a:prstGeom prst="rect">
            <a:avLst/>
          </a:prstGeom>
          <a:noFill/>
          <a:ln/>
        </p:spPr>
        <p:txBody>
          <a:bodyPr wrap="square" lIns="0" tIns="0" rIns="0" bIns="0" rtlCol="0" anchor="t">
            <a:noAutofit/>
          </a:bodyPr>
          <a:lstStyle/>
          <a:p>
            <a:pPr marL="0" indent="0" algn="l">
              <a:lnSpc>
                <a:spcPct val="110000"/>
              </a:lnSpc>
              <a:buNone/>
            </a:pPr>
            <a:r>
              <a:rPr lang="en-US" sz="900" dirty="0">
                <a:latin typeface="Roboto" panose="02000000000000000000" pitchFamily="2" charset="0"/>
                <a:ea typeface="Roboto" panose="02000000000000000000" pitchFamily="2" charset="0"/>
              </a:rPr>
              <a:t>Supports the importance of occupancy detection in smart classrooms. Although the paper uses cameras and AI, our project adopts a simpler and lower-cost PIR sensor approach suitable for a student prototype.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4" y="634497"/>
            <a:ext cx="10868745" cy="387648"/>
          </a:xfrm>
          <a:prstGeom prst="rect">
            <a:avLst/>
          </a:prstGeom>
          <a:noFill/>
          <a:ln/>
        </p:spPr>
        <p:txBody>
          <a:bodyPr wrap="none" lIns="0" tIns="0" rIns="0" bIns="0" rtlCol="0" anchor="t"/>
          <a:lstStyle/>
          <a:p>
            <a:pPr marL="0" indent="0" algn="l">
              <a:lnSpc>
                <a:spcPct val="104000"/>
              </a:lnSpc>
              <a:buNone/>
            </a:pPr>
            <a:r>
              <a:rPr lang="en-US" sz="2400" dirty="0">
                <a:latin typeface="Raleway" pitchFamily="34" charset="0"/>
                <a:ea typeface="Raleway" pitchFamily="34" charset="-122"/>
                <a:cs typeface="Raleway" pitchFamily="34" charset="-120"/>
              </a:rPr>
              <a:t>Problem Statement</a:t>
            </a:r>
            <a:endParaRPr lang="en-US" sz="2400" dirty="0"/>
          </a:p>
        </p:txBody>
      </p:sp>
      <p:sp>
        <p:nvSpPr>
          <p:cNvPr id="3" name="Text 1"/>
          <p:cNvSpPr/>
          <p:nvPr/>
        </p:nvSpPr>
        <p:spPr>
          <a:xfrm>
            <a:off x="667825" y="1089560"/>
            <a:ext cx="10868745" cy="347266"/>
          </a:xfrm>
          <a:prstGeom prst="rect">
            <a:avLst/>
          </a:prstGeom>
          <a:noFill/>
          <a:ln/>
        </p:spPr>
        <p:txBody>
          <a:bodyPr wrap="square" lIns="0" tIns="0" rIns="0" bIns="0" rtlCol="0" anchor="t">
            <a:normAutofit/>
          </a:bodyPr>
          <a:lstStyle/>
          <a:p>
            <a:pPr marL="0" indent="0" algn="l">
              <a:lnSpc>
                <a:spcPct val="117000"/>
              </a:lnSpc>
              <a:buNone/>
            </a:pPr>
            <a:r>
              <a:rPr lang="en-US" sz="950" dirty="0">
                <a:latin typeface="Roboto" pitchFamily="34" charset="0"/>
                <a:ea typeface="Roboto" pitchFamily="34" charset="-122"/>
                <a:cs typeface="Roboto" pitchFamily="34" charset="-120"/>
              </a:rPr>
              <a:t>Educational institutions are gradually adopting smart technologies, yet many classrooms continue to waste electricity because lights and fans remain ON even when classrooms are unoccupied. The absence of automated monitoring creates significant operational inefficiencies and avoidable costs.</a:t>
            </a:r>
            <a:endParaRPr lang="en-US" sz="9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874" y="1623913"/>
            <a:ext cx="5283068" cy="907455"/>
          </a:xfrm>
          <a:prstGeom prst="rect">
            <a:avLst/>
          </a:prstGeom>
        </p:spPr>
      </p:pic>
      <p:sp>
        <p:nvSpPr>
          <p:cNvPr id="5" name="Text 2"/>
          <p:cNvSpPr/>
          <p:nvPr/>
        </p:nvSpPr>
        <p:spPr>
          <a:xfrm>
            <a:off x="848994" y="2624336"/>
            <a:ext cx="4958829" cy="193774"/>
          </a:xfrm>
          <a:prstGeom prst="rect">
            <a:avLst/>
          </a:prstGeom>
          <a:noFill/>
          <a:ln/>
        </p:spPr>
        <p:txBody>
          <a:bodyPr wrap="none" lIns="0" tIns="0" rIns="0" bIns="0" rtlCol="0" anchor="t"/>
          <a:lstStyle/>
          <a:p>
            <a:pPr marL="0" indent="0" algn="l">
              <a:lnSpc>
                <a:spcPct val="104000"/>
              </a:lnSpc>
              <a:buNone/>
            </a:pPr>
            <a:r>
              <a:rPr lang="en-US" sz="1200" dirty="0">
                <a:solidFill>
                  <a:schemeClr val="bg1"/>
                </a:solidFill>
                <a:latin typeface="Raleway" pitchFamily="34" charset="0"/>
                <a:ea typeface="Raleway" pitchFamily="34" charset="-122"/>
                <a:cs typeface="Raleway" pitchFamily="34" charset="-120"/>
              </a:rPr>
              <a:t>Inefficient Manual Monitoring</a:t>
            </a:r>
            <a:endParaRPr lang="en-US" sz="1200" dirty="0">
              <a:solidFill>
                <a:schemeClr val="bg1"/>
              </a:solidFill>
            </a:endParaRPr>
          </a:p>
        </p:txBody>
      </p:sp>
      <p:sp>
        <p:nvSpPr>
          <p:cNvPr id="6" name="Text 3"/>
          <p:cNvSpPr/>
          <p:nvPr/>
        </p:nvSpPr>
        <p:spPr>
          <a:xfrm>
            <a:off x="848994" y="1773256"/>
            <a:ext cx="4958829" cy="347266"/>
          </a:xfrm>
          <a:prstGeom prst="rect">
            <a:avLst/>
          </a:prstGeom>
          <a:noFill/>
          <a:ln/>
        </p:spPr>
        <p:txBody>
          <a:bodyPr wrap="square" lIns="0" tIns="0" rIns="0" bIns="0" rtlCol="0" anchor="t">
            <a:noAutofit/>
          </a:bodyPr>
          <a:lstStyle/>
          <a:p>
            <a:pPr marL="0" indent="0" algn="l">
              <a:lnSpc>
                <a:spcPct val="117000"/>
              </a:lnSpc>
              <a:buNone/>
            </a:pPr>
            <a:r>
              <a:rPr lang="en-US" sz="1200" dirty="0">
                <a:solidFill>
                  <a:schemeClr val="bg1"/>
                </a:solidFill>
                <a:latin typeface="Roboto" pitchFamily="34" charset="0"/>
                <a:ea typeface="Roboto" pitchFamily="34" charset="-122"/>
                <a:cs typeface="Roboto" pitchFamily="34" charset="-120"/>
              </a:rPr>
              <a:t>No automated system exists to track classroom occupancy in real time, relying entirely on human intervention.</a:t>
            </a:r>
            <a:endParaRPr lang="en-US" sz="1200" dirty="0">
              <a:solidFill>
                <a:schemeClr val="bg1"/>
              </a:solidFill>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825" y="2725835"/>
            <a:ext cx="5283068" cy="907455"/>
          </a:xfrm>
          <a:prstGeom prst="rect">
            <a:avLst/>
          </a:prstGeom>
        </p:spPr>
      </p:pic>
      <p:sp>
        <p:nvSpPr>
          <p:cNvPr id="8" name="Text 4"/>
          <p:cNvSpPr/>
          <p:nvPr/>
        </p:nvSpPr>
        <p:spPr>
          <a:xfrm>
            <a:off x="848994" y="3624759"/>
            <a:ext cx="4958829" cy="193774"/>
          </a:xfrm>
          <a:prstGeom prst="rect">
            <a:avLst/>
          </a:prstGeom>
          <a:noFill/>
          <a:ln/>
        </p:spPr>
        <p:txBody>
          <a:bodyPr wrap="none" lIns="0" tIns="0" rIns="0" bIns="0" rtlCol="0" anchor="t"/>
          <a:lstStyle/>
          <a:p>
            <a:pPr marL="0" indent="0" algn="l">
              <a:lnSpc>
                <a:spcPct val="104000"/>
              </a:lnSpc>
              <a:buNone/>
            </a:pPr>
            <a:r>
              <a:rPr lang="en-US" sz="1200" dirty="0">
                <a:solidFill>
                  <a:schemeClr val="bg1"/>
                </a:solidFill>
                <a:latin typeface="Raleway" pitchFamily="34" charset="0"/>
                <a:ea typeface="Raleway" pitchFamily="34" charset="-122"/>
                <a:cs typeface="Raleway" pitchFamily="34" charset="-120"/>
              </a:rPr>
              <a:t>Unnecessary Energy Consumption</a:t>
            </a:r>
            <a:endParaRPr lang="en-US" sz="1200" dirty="0">
              <a:solidFill>
                <a:schemeClr val="bg1"/>
              </a:solidFill>
            </a:endParaRPr>
          </a:p>
        </p:txBody>
      </p:sp>
      <p:sp>
        <p:nvSpPr>
          <p:cNvPr id="9" name="Text 5"/>
          <p:cNvSpPr/>
          <p:nvPr/>
        </p:nvSpPr>
        <p:spPr>
          <a:xfrm>
            <a:off x="823594" y="2906714"/>
            <a:ext cx="4958829" cy="347266"/>
          </a:xfrm>
          <a:prstGeom prst="rect">
            <a:avLst/>
          </a:prstGeom>
          <a:noFill/>
          <a:ln/>
        </p:spPr>
        <p:txBody>
          <a:bodyPr wrap="square" lIns="0" tIns="0" rIns="0" bIns="0" rtlCol="0" anchor="t">
            <a:noAutofit/>
          </a:bodyPr>
          <a:lstStyle/>
          <a:p>
            <a:pPr marL="0" indent="0" algn="l">
              <a:lnSpc>
                <a:spcPct val="117000"/>
              </a:lnSpc>
              <a:buNone/>
            </a:pPr>
            <a:r>
              <a:rPr lang="en-US" sz="1100" dirty="0">
                <a:solidFill>
                  <a:schemeClr val="bg1"/>
                </a:solidFill>
                <a:latin typeface="Roboto" pitchFamily="34" charset="0"/>
                <a:ea typeface="Roboto" pitchFamily="34" charset="-122"/>
                <a:cs typeface="Roboto" pitchFamily="34" charset="-120"/>
              </a:rPr>
              <a:t>Lights and fans remain ON in empty classrooms for extended periods, leading to wholly avoidable electricity wastage.</a:t>
            </a:r>
            <a:endParaRPr lang="en-US" sz="1100" dirty="0">
              <a:solidFill>
                <a:schemeClr val="bg1"/>
              </a:solidFill>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874" y="3818533"/>
            <a:ext cx="5283068" cy="907455"/>
          </a:xfrm>
          <a:prstGeom prst="rect">
            <a:avLst/>
          </a:prstGeom>
        </p:spPr>
      </p:pic>
      <p:sp>
        <p:nvSpPr>
          <p:cNvPr id="12" name="Text 7"/>
          <p:cNvSpPr/>
          <p:nvPr/>
        </p:nvSpPr>
        <p:spPr>
          <a:xfrm>
            <a:off x="823593" y="4015679"/>
            <a:ext cx="4958829" cy="347266"/>
          </a:xfrm>
          <a:prstGeom prst="rect">
            <a:avLst/>
          </a:prstGeom>
          <a:noFill/>
          <a:ln/>
        </p:spPr>
        <p:txBody>
          <a:bodyPr wrap="square" lIns="0" tIns="0" rIns="0" bIns="0" rtlCol="0" anchor="t">
            <a:noAutofit/>
          </a:bodyPr>
          <a:lstStyle/>
          <a:p>
            <a:pPr marL="0" indent="0" algn="l">
              <a:lnSpc>
                <a:spcPct val="117000"/>
              </a:lnSpc>
              <a:buNone/>
            </a:pPr>
            <a:r>
              <a:rPr lang="en-US" sz="1100" dirty="0">
                <a:solidFill>
                  <a:schemeClr val="bg1"/>
                </a:solidFill>
                <a:latin typeface="Roboto" pitchFamily="34" charset="0"/>
                <a:ea typeface="Roboto" pitchFamily="34" charset="-122"/>
                <a:cs typeface="Roboto" pitchFamily="34" charset="-120"/>
              </a:rPr>
              <a:t>Unmanaged energy use directly and measurably increases institutional operational expenses semester after semester.</a:t>
            </a:r>
            <a:endParaRPr lang="en-US" sz="1100" dirty="0">
              <a:solidFill>
                <a:schemeClr val="bg1"/>
              </a:solidFill>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3502" y="1620925"/>
            <a:ext cx="5283068" cy="907455"/>
          </a:xfrm>
          <a:prstGeom prst="rect">
            <a:avLst/>
          </a:prstGeom>
        </p:spPr>
      </p:pic>
      <p:sp>
        <p:nvSpPr>
          <p:cNvPr id="14" name="Text 8"/>
          <p:cNvSpPr/>
          <p:nvPr/>
        </p:nvSpPr>
        <p:spPr>
          <a:xfrm>
            <a:off x="6441021" y="2624336"/>
            <a:ext cx="4958829" cy="193774"/>
          </a:xfrm>
          <a:prstGeom prst="rect">
            <a:avLst/>
          </a:prstGeom>
          <a:noFill/>
          <a:ln/>
        </p:spPr>
        <p:txBody>
          <a:bodyPr wrap="none" lIns="0" tIns="0" rIns="0" bIns="0" rtlCol="0" anchor="t"/>
          <a:lstStyle/>
          <a:p>
            <a:pPr marL="0" indent="0" algn="l">
              <a:lnSpc>
                <a:spcPct val="104000"/>
              </a:lnSpc>
              <a:buNone/>
            </a:pPr>
            <a:r>
              <a:rPr lang="en-US" sz="1200" dirty="0">
                <a:solidFill>
                  <a:schemeClr val="bg1"/>
                </a:solidFill>
                <a:latin typeface="Raleway" pitchFamily="34" charset="0"/>
                <a:ea typeface="Raleway" pitchFamily="34" charset="-122"/>
                <a:cs typeface="Raleway" pitchFamily="34" charset="-120"/>
              </a:rPr>
              <a:t>Lack of Centralized Visibility</a:t>
            </a:r>
            <a:endParaRPr lang="en-US" sz="1200" dirty="0">
              <a:solidFill>
                <a:schemeClr val="bg1"/>
              </a:solidFill>
            </a:endParaRPr>
          </a:p>
        </p:txBody>
      </p:sp>
      <p:sp>
        <p:nvSpPr>
          <p:cNvPr id="15" name="Text 9"/>
          <p:cNvSpPr/>
          <p:nvPr/>
        </p:nvSpPr>
        <p:spPr>
          <a:xfrm>
            <a:off x="6377522" y="1797243"/>
            <a:ext cx="4958829" cy="347266"/>
          </a:xfrm>
          <a:prstGeom prst="rect">
            <a:avLst/>
          </a:prstGeom>
          <a:noFill/>
          <a:ln/>
        </p:spPr>
        <p:txBody>
          <a:bodyPr wrap="square" lIns="0" tIns="0" rIns="0" bIns="0" rtlCol="0" anchor="t">
            <a:noAutofit/>
          </a:bodyPr>
          <a:lstStyle/>
          <a:p>
            <a:pPr marL="0" indent="0" algn="l">
              <a:lnSpc>
                <a:spcPct val="117000"/>
              </a:lnSpc>
              <a:buNone/>
            </a:pPr>
            <a:r>
              <a:rPr lang="en-US" sz="1100" dirty="0">
                <a:solidFill>
                  <a:schemeClr val="bg1"/>
                </a:solidFill>
                <a:latin typeface="Roboto" pitchFamily="34" charset="0"/>
                <a:ea typeface="Roboto" pitchFamily="34" charset="-122"/>
                <a:cs typeface="Roboto" pitchFamily="34" charset="-120"/>
              </a:rPr>
              <a:t>No unified platform exists to monitor the status of multiple classrooms simultaneously across a campus.</a:t>
            </a:r>
            <a:endParaRPr lang="en-US" sz="1100" dirty="0">
              <a:solidFill>
                <a:schemeClr val="bg1"/>
              </a:solidFill>
            </a:endParaRPr>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90769" y="2725043"/>
            <a:ext cx="5283068" cy="907455"/>
          </a:xfrm>
          <a:prstGeom prst="rect">
            <a:avLst/>
          </a:prstGeom>
        </p:spPr>
      </p:pic>
      <p:sp>
        <p:nvSpPr>
          <p:cNvPr id="17" name="Text 10"/>
          <p:cNvSpPr/>
          <p:nvPr/>
        </p:nvSpPr>
        <p:spPr>
          <a:xfrm>
            <a:off x="6441021" y="3624759"/>
            <a:ext cx="4958829" cy="193774"/>
          </a:xfrm>
          <a:prstGeom prst="rect">
            <a:avLst/>
          </a:prstGeom>
          <a:noFill/>
          <a:ln/>
        </p:spPr>
        <p:txBody>
          <a:bodyPr wrap="none" lIns="0" tIns="0" rIns="0" bIns="0" rtlCol="0" anchor="t"/>
          <a:lstStyle/>
          <a:p>
            <a:pPr marL="0" indent="0" algn="l">
              <a:lnSpc>
                <a:spcPct val="104000"/>
              </a:lnSpc>
              <a:buNone/>
            </a:pPr>
            <a:r>
              <a:rPr lang="en-US" sz="1200" dirty="0">
                <a:solidFill>
                  <a:schemeClr val="bg1"/>
                </a:solidFill>
                <a:latin typeface="Raleway" pitchFamily="34" charset="0"/>
                <a:ea typeface="Raleway" pitchFamily="34" charset="-122"/>
                <a:cs typeface="Raleway" pitchFamily="34" charset="-120"/>
              </a:rPr>
              <a:t>No Automated Control</a:t>
            </a:r>
            <a:endParaRPr lang="en-US" sz="1200" dirty="0">
              <a:solidFill>
                <a:schemeClr val="bg1"/>
              </a:solidFill>
            </a:endParaRPr>
          </a:p>
        </p:txBody>
      </p:sp>
      <p:sp>
        <p:nvSpPr>
          <p:cNvPr id="18" name="Text 11"/>
          <p:cNvSpPr/>
          <p:nvPr/>
        </p:nvSpPr>
        <p:spPr>
          <a:xfrm>
            <a:off x="6415621" y="2911380"/>
            <a:ext cx="4958829" cy="347266"/>
          </a:xfrm>
          <a:prstGeom prst="rect">
            <a:avLst/>
          </a:prstGeom>
          <a:noFill/>
          <a:ln/>
        </p:spPr>
        <p:txBody>
          <a:bodyPr wrap="square" lIns="0" tIns="0" rIns="0" bIns="0" rtlCol="0" anchor="t">
            <a:noAutofit/>
          </a:bodyPr>
          <a:lstStyle/>
          <a:p>
            <a:pPr marL="0" indent="0" algn="l">
              <a:lnSpc>
                <a:spcPct val="117000"/>
              </a:lnSpc>
              <a:buNone/>
            </a:pPr>
            <a:r>
              <a:rPr lang="en-US" sz="1100" dirty="0">
                <a:solidFill>
                  <a:schemeClr val="bg1"/>
                </a:solidFill>
                <a:latin typeface="Roboto" pitchFamily="34" charset="0"/>
                <a:ea typeface="Roboto" pitchFamily="34" charset="-122"/>
                <a:cs typeface="Roboto" pitchFamily="34" charset="-120"/>
              </a:rPr>
              <a:t>The complete absence of a smart energy management solution means no system can respond to occupancy changes automatically.</a:t>
            </a:r>
            <a:endParaRPr lang="en-US" sz="1100" dirty="0">
              <a:solidFill>
                <a:schemeClr val="bg1"/>
              </a:solidFill>
            </a:endParaRPr>
          </a:p>
        </p:txBody>
      </p:sp>
      <p:sp>
        <p:nvSpPr>
          <p:cNvPr id="19" name="Shape 12"/>
          <p:cNvSpPr/>
          <p:nvPr/>
        </p:nvSpPr>
        <p:spPr>
          <a:xfrm>
            <a:off x="6247151" y="3862686"/>
            <a:ext cx="5283068" cy="576461"/>
          </a:xfrm>
          <a:prstGeom prst="roundRect">
            <a:avLst>
              <a:gd name="adj" fmla="val 9038"/>
            </a:avLst>
          </a:prstGeom>
          <a:solidFill>
            <a:srgbClr val="E1E1EA"/>
          </a:solidFill>
          <a:ln/>
        </p:spPr>
        <p:txBody>
          <a:bodyPr/>
          <a:lstStyle/>
          <a:p>
            <a:endParaRPr lang="en-IN" dirty="0"/>
          </a:p>
        </p:txBody>
      </p:sp>
      <p:pic>
        <p:nvPicPr>
          <p:cNvPr id="20" name="Image 5" descr="preencoded.png"/>
          <p:cNvPicPr>
            <a:picLocks noChangeAspect="1"/>
          </p:cNvPicPr>
          <p:nvPr/>
        </p:nvPicPr>
        <p:blipFill>
          <a:blip r:embed="rId5"/>
          <a:stretch>
            <a:fillRect/>
          </a:stretch>
        </p:blipFill>
        <p:spPr>
          <a:xfrm>
            <a:off x="6244159" y="4320793"/>
            <a:ext cx="154976" cy="124023"/>
          </a:xfrm>
          <a:prstGeom prst="rect">
            <a:avLst/>
          </a:prstGeom>
        </p:spPr>
      </p:pic>
      <p:sp>
        <p:nvSpPr>
          <p:cNvPr id="21" name="Text 13"/>
          <p:cNvSpPr/>
          <p:nvPr/>
        </p:nvSpPr>
        <p:spPr>
          <a:xfrm>
            <a:off x="6377522" y="3932694"/>
            <a:ext cx="4756031" cy="347266"/>
          </a:xfrm>
          <a:prstGeom prst="rect">
            <a:avLst/>
          </a:prstGeom>
          <a:noFill/>
          <a:ln/>
        </p:spPr>
        <p:txBody>
          <a:bodyPr wrap="square" lIns="0" tIns="0" rIns="0" bIns="0" rtlCol="0" anchor="t">
            <a:noAutofit/>
          </a:bodyPr>
          <a:lstStyle/>
          <a:p>
            <a:pPr marL="0" indent="0" algn="l">
              <a:lnSpc>
                <a:spcPct val="117000"/>
              </a:lnSpc>
              <a:buNone/>
            </a:pPr>
            <a:r>
              <a:rPr lang="en-US" sz="1200" dirty="0">
                <a:latin typeface="Roboto" pitchFamily="34" charset="0"/>
                <a:ea typeface="Roboto" pitchFamily="34" charset="-122"/>
                <a:cs typeface="Roboto" pitchFamily="34" charset="-120"/>
              </a:rPr>
              <a:t>These five compounding challenges establish a clear and urgent need for an integrated IoT-based solution.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5271" y="771178"/>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Raleway" pitchFamily="34" charset="0"/>
                <a:ea typeface="Raleway" pitchFamily="34" charset="-122"/>
                <a:cs typeface="Raleway" pitchFamily="34" charset="-120"/>
              </a:rPr>
              <a:t>Proposed Solution: CampusPulse</a:t>
            </a:r>
            <a:endParaRPr lang="en-US" sz="2400" dirty="0"/>
          </a:p>
        </p:txBody>
      </p:sp>
      <p:sp>
        <p:nvSpPr>
          <p:cNvPr id="3" name="Text 1"/>
          <p:cNvSpPr/>
          <p:nvPr/>
        </p:nvSpPr>
        <p:spPr>
          <a:xfrm>
            <a:off x="725271" y="1234837"/>
            <a:ext cx="10868745" cy="347266"/>
          </a:xfrm>
          <a:prstGeom prst="rect">
            <a:avLst/>
          </a:prstGeom>
          <a:noFill/>
          <a:ln/>
        </p:spPr>
        <p:txBody>
          <a:bodyPr wrap="square" lIns="0" tIns="0" rIns="0" bIns="0" rtlCol="0" anchor="t">
            <a:noAutofit/>
          </a:bodyPr>
          <a:lstStyle/>
          <a:p>
            <a:pPr marL="0" indent="0" algn="l">
              <a:lnSpc>
                <a:spcPct val="117000"/>
              </a:lnSpc>
              <a:buNone/>
            </a:pPr>
            <a:r>
              <a:rPr lang="en-US" sz="1100" dirty="0">
                <a:solidFill>
                  <a:srgbClr val="3C3939"/>
                </a:solidFill>
                <a:latin typeface="Roboto" pitchFamily="34" charset="0"/>
                <a:ea typeface="Roboto" pitchFamily="34" charset="-122"/>
                <a:cs typeface="Roboto" pitchFamily="34" charset="-120"/>
              </a:rPr>
              <a:t>CampusPulse is an IoT-based smart classroom monitoring and energy management system designed to automate occupancy detection, environmental sensing, and appliance control through a centralized web dashboard.</a:t>
            </a:r>
            <a:endParaRPr lang="en-US" sz="1100" dirty="0"/>
          </a:p>
        </p:txBody>
      </p:sp>
      <p:sp>
        <p:nvSpPr>
          <p:cNvPr id="4" name="Shape 2"/>
          <p:cNvSpPr/>
          <p:nvPr/>
        </p:nvSpPr>
        <p:spPr>
          <a:xfrm>
            <a:off x="725271" y="1795858"/>
            <a:ext cx="2874295" cy="1068388"/>
          </a:xfrm>
          <a:prstGeom prst="roundRect">
            <a:avLst>
              <a:gd name="adj" fmla="val 4876"/>
            </a:avLst>
          </a:prstGeom>
          <a:solidFill>
            <a:srgbClr val="E1E1EA"/>
          </a:solidFill>
          <a:ln w="6350">
            <a:solidFill>
              <a:srgbClr val="C7C7D0"/>
            </a:solidFill>
            <a:prstDash val="solid"/>
          </a:ln>
        </p:spPr>
      </p:sp>
      <p:sp>
        <p:nvSpPr>
          <p:cNvPr id="5" name="Text 3"/>
          <p:cNvSpPr/>
          <p:nvPr/>
        </p:nvSpPr>
        <p:spPr>
          <a:xfrm>
            <a:off x="791845" y="1902707"/>
            <a:ext cx="2613555" cy="193774"/>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Occupancy Detection</a:t>
            </a:r>
            <a:endParaRPr lang="en-US" sz="1200" dirty="0"/>
          </a:p>
        </p:txBody>
      </p:sp>
      <p:sp>
        <p:nvSpPr>
          <p:cNvPr id="6" name="Text 4"/>
          <p:cNvSpPr/>
          <p:nvPr/>
        </p:nvSpPr>
        <p:spPr>
          <a:xfrm>
            <a:off x="791844" y="2137558"/>
            <a:ext cx="2613555" cy="520898"/>
          </a:xfrm>
          <a:prstGeom prst="rect">
            <a:avLst/>
          </a:prstGeom>
          <a:noFill/>
          <a:ln/>
        </p:spPr>
        <p:txBody>
          <a:bodyPr wrap="square" lIns="0" tIns="0" rIns="0" bIns="0" rtlCol="0" anchor="t">
            <a:noAutofit/>
          </a:bodyPr>
          <a:lstStyle/>
          <a:p>
            <a:pPr marL="0" indent="0" algn="l">
              <a:lnSpc>
                <a:spcPct val="117000"/>
              </a:lnSpc>
              <a:buNone/>
            </a:pPr>
            <a:r>
              <a:rPr lang="en-US" sz="1050" dirty="0">
                <a:solidFill>
                  <a:srgbClr val="3C3939"/>
                </a:solidFill>
                <a:latin typeface="Roboto" pitchFamily="34" charset="0"/>
                <a:ea typeface="Roboto" pitchFamily="34" charset="-122"/>
                <a:cs typeface="Roboto" pitchFamily="34" charset="-120"/>
              </a:rPr>
              <a:t>PIR sensor continuously monitors classroom presence and triggers automated appliance responses.</a:t>
            </a:r>
            <a:endParaRPr lang="en-US" sz="1050" dirty="0"/>
          </a:p>
        </p:txBody>
      </p:sp>
      <p:sp>
        <p:nvSpPr>
          <p:cNvPr id="7" name="Shape 5"/>
          <p:cNvSpPr/>
          <p:nvPr/>
        </p:nvSpPr>
        <p:spPr>
          <a:xfrm>
            <a:off x="3716790" y="1781099"/>
            <a:ext cx="2874295" cy="1068388"/>
          </a:xfrm>
          <a:prstGeom prst="roundRect">
            <a:avLst>
              <a:gd name="adj" fmla="val 4876"/>
            </a:avLst>
          </a:prstGeom>
          <a:solidFill>
            <a:srgbClr val="E1E1EA"/>
          </a:solidFill>
          <a:ln w="6350">
            <a:solidFill>
              <a:srgbClr val="C7C7D0"/>
            </a:solidFill>
            <a:prstDash val="solid"/>
          </a:ln>
        </p:spPr>
      </p:sp>
      <p:sp>
        <p:nvSpPr>
          <p:cNvPr id="8" name="Text 6"/>
          <p:cNvSpPr/>
          <p:nvPr/>
        </p:nvSpPr>
        <p:spPr>
          <a:xfrm>
            <a:off x="3759106" y="1905674"/>
            <a:ext cx="2613555" cy="193774"/>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Environmental Monitoring</a:t>
            </a:r>
            <a:endParaRPr lang="en-US" sz="1200" dirty="0"/>
          </a:p>
        </p:txBody>
      </p:sp>
      <p:sp>
        <p:nvSpPr>
          <p:cNvPr id="9" name="Text 7"/>
          <p:cNvSpPr/>
          <p:nvPr/>
        </p:nvSpPr>
        <p:spPr>
          <a:xfrm>
            <a:off x="3759106" y="2138508"/>
            <a:ext cx="2613555" cy="520898"/>
          </a:xfrm>
          <a:prstGeom prst="rect">
            <a:avLst/>
          </a:prstGeom>
          <a:noFill/>
          <a:ln/>
        </p:spPr>
        <p:txBody>
          <a:bodyPr wrap="square" lIns="0" tIns="0" rIns="0" bIns="0" rtlCol="0" anchor="t">
            <a:noAutofit/>
          </a:bodyPr>
          <a:lstStyle/>
          <a:p>
            <a:pPr marL="0" indent="0" algn="l">
              <a:lnSpc>
                <a:spcPct val="117000"/>
              </a:lnSpc>
              <a:buNone/>
            </a:pPr>
            <a:r>
              <a:rPr lang="en-US" sz="1050" dirty="0">
                <a:solidFill>
                  <a:srgbClr val="3C3939"/>
                </a:solidFill>
                <a:latin typeface="Roboto" pitchFamily="34" charset="0"/>
                <a:ea typeface="Roboto" pitchFamily="34" charset="-122"/>
                <a:cs typeface="Roboto" pitchFamily="34" charset="-120"/>
              </a:rPr>
              <a:t>DHT22 sensor measures real-time temperature and humidity; BH1750 measures illumination in lux.</a:t>
            </a:r>
            <a:endParaRPr lang="en-US" sz="1050" dirty="0"/>
          </a:p>
        </p:txBody>
      </p:sp>
      <p:sp>
        <p:nvSpPr>
          <p:cNvPr id="10" name="Shape 8"/>
          <p:cNvSpPr/>
          <p:nvPr/>
        </p:nvSpPr>
        <p:spPr>
          <a:xfrm>
            <a:off x="725270" y="3059687"/>
            <a:ext cx="2874295" cy="1068388"/>
          </a:xfrm>
          <a:prstGeom prst="roundRect">
            <a:avLst>
              <a:gd name="adj" fmla="val 4876"/>
            </a:avLst>
          </a:prstGeom>
          <a:solidFill>
            <a:srgbClr val="E1E1EA"/>
          </a:solidFill>
          <a:ln w="6350">
            <a:solidFill>
              <a:srgbClr val="C7C7D0"/>
            </a:solidFill>
            <a:prstDash val="solid"/>
          </a:ln>
        </p:spPr>
        <p:txBody>
          <a:bodyPr/>
          <a:lstStyle/>
          <a:p>
            <a:endParaRPr lang="en-IN" dirty="0"/>
          </a:p>
        </p:txBody>
      </p:sp>
      <p:sp>
        <p:nvSpPr>
          <p:cNvPr id="11" name="Text 9"/>
          <p:cNvSpPr/>
          <p:nvPr/>
        </p:nvSpPr>
        <p:spPr>
          <a:xfrm>
            <a:off x="791845" y="3153855"/>
            <a:ext cx="2613555" cy="193774"/>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Automated Appliance Control</a:t>
            </a:r>
            <a:endParaRPr lang="en-US" sz="1200" dirty="0"/>
          </a:p>
        </p:txBody>
      </p:sp>
      <p:sp>
        <p:nvSpPr>
          <p:cNvPr id="12" name="Text 10"/>
          <p:cNvSpPr/>
          <p:nvPr/>
        </p:nvSpPr>
        <p:spPr>
          <a:xfrm>
            <a:off x="791845" y="3429000"/>
            <a:ext cx="2613555" cy="347266"/>
          </a:xfrm>
          <a:prstGeom prst="rect">
            <a:avLst/>
          </a:prstGeom>
          <a:noFill/>
          <a:ln/>
        </p:spPr>
        <p:txBody>
          <a:bodyPr wrap="square" lIns="0" tIns="0" rIns="0" bIns="0" rtlCol="0" anchor="t">
            <a:noAutofit/>
          </a:bodyPr>
          <a:lstStyle/>
          <a:p>
            <a:pPr marL="0" indent="0" algn="l">
              <a:lnSpc>
                <a:spcPct val="117000"/>
              </a:lnSpc>
              <a:buNone/>
            </a:pPr>
            <a:r>
              <a:rPr lang="en-US" sz="1050" dirty="0">
                <a:solidFill>
                  <a:srgbClr val="3C3939"/>
                </a:solidFill>
                <a:latin typeface="Roboto" pitchFamily="34" charset="0"/>
                <a:ea typeface="Roboto" pitchFamily="34" charset="-122"/>
                <a:cs typeface="Roboto" pitchFamily="34" charset="-120"/>
              </a:rPr>
              <a:t>Relay module switches lights and fans ON/OFF based on live occupancy data from the ESP32.</a:t>
            </a:r>
            <a:endParaRPr lang="en-US" sz="1050" dirty="0"/>
          </a:p>
        </p:txBody>
      </p:sp>
      <p:sp>
        <p:nvSpPr>
          <p:cNvPr id="13" name="Shape 11"/>
          <p:cNvSpPr/>
          <p:nvPr/>
        </p:nvSpPr>
        <p:spPr>
          <a:xfrm>
            <a:off x="3726661" y="3059687"/>
            <a:ext cx="2874295" cy="1068388"/>
          </a:xfrm>
          <a:prstGeom prst="roundRect">
            <a:avLst>
              <a:gd name="adj" fmla="val 4876"/>
            </a:avLst>
          </a:prstGeom>
          <a:solidFill>
            <a:srgbClr val="E1E1EA"/>
          </a:solidFill>
          <a:ln w="6350">
            <a:solidFill>
              <a:srgbClr val="C7C7D0"/>
            </a:solidFill>
            <a:prstDash val="solid"/>
          </a:ln>
        </p:spPr>
        <p:txBody>
          <a:bodyPr/>
          <a:lstStyle/>
          <a:p>
            <a:endParaRPr lang="en-IN" dirty="0"/>
          </a:p>
        </p:txBody>
      </p:sp>
      <p:sp>
        <p:nvSpPr>
          <p:cNvPr id="14" name="Text 12"/>
          <p:cNvSpPr/>
          <p:nvPr/>
        </p:nvSpPr>
        <p:spPr>
          <a:xfrm>
            <a:off x="3749969" y="3153855"/>
            <a:ext cx="2613555" cy="193774"/>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Cloud-Connected Dashboard</a:t>
            </a:r>
            <a:endParaRPr lang="en-US" sz="1200" dirty="0"/>
          </a:p>
        </p:txBody>
      </p:sp>
      <p:sp>
        <p:nvSpPr>
          <p:cNvPr id="15" name="Text 13"/>
          <p:cNvSpPr/>
          <p:nvPr/>
        </p:nvSpPr>
        <p:spPr>
          <a:xfrm>
            <a:off x="3833189" y="3414616"/>
            <a:ext cx="2613555" cy="520898"/>
          </a:xfrm>
          <a:prstGeom prst="rect">
            <a:avLst/>
          </a:prstGeom>
          <a:noFill/>
          <a:ln/>
        </p:spPr>
        <p:txBody>
          <a:bodyPr wrap="square" lIns="0" tIns="0" rIns="0" bIns="0" rtlCol="0" anchor="t">
            <a:noAutofit/>
          </a:bodyPr>
          <a:lstStyle/>
          <a:p>
            <a:pPr marL="0" indent="0" algn="l">
              <a:lnSpc>
                <a:spcPct val="117000"/>
              </a:lnSpc>
              <a:buNone/>
            </a:pPr>
            <a:r>
              <a:rPr lang="en-US" sz="1050" dirty="0">
                <a:solidFill>
                  <a:srgbClr val="3C3939"/>
                </a:solidFill>
                <a:latin typeface="Roboto" pitchFamily="34" charset="0"/>
                <a:ea typeface="Roboto" pitchFamily="34" charset="-122"/>
                <a:cs typeface="Roboto" pitchFamily="34" charset="-120"/>
              </a:rPr>
              <a:t>Sensor data transmitted to a Django web application for real-time visualization and remote management.</a:t>
            </a:r>
            <a:endParaRPr lang="en-US" sz="1050" dirty="0"/>
          </a:p>
        </p:txBody>
      </p:sp>
      <p:sp>
        <p:nvSpPr>
          <p:cNvPr id="16" name="Text 14"/>
          <p:cNvSpPr/>
          <p:nvPr/>
        </p:nvSpPr>
        <p:spPr>
          <a:xfrm>
            <a:off x="6869536" y="1775291"/>
            <a:ext cx="4724480" cy="193774"/>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Raleway" pitchFamily="34" charset="0"/>
                <a:ea typeface="Raleway" pitchFamily="34" charset="-122"/>
                <a:cs typeface="Raleway" pitchFamily="34" charset="-120"/>
              </a:rPr>
              <a:t>System Workflow</a:t>
            </a:r>
            <a:endParaRPr lang="en-US" sz="1200" dirty="0"/>
          </a:p>
        </p:txBody>
      </p:sp>
      <p:pic>
        <p:nvPicPr>
          <p:cNvPr id="17" name="Image 0" descr="preencoded.png"/>
          <p:cNvPicPr>
            <a:picLocks noChangeAspect="1"/>
          </p:cNvPicPr>
          <p:nvPr/>
        </p:nvPicPr>
        <p:blipFill>
          <a:blip r:embed="rId3"/>
          <a:stretch>
            <a:fillRect/>
          </a:stretch>
        </p:blipFill>
        <p:spPr>
          <a:xfrm>
            <a:off x="6811991" y="2265134"/>
            <a:ext cx="3543311" cy="1527969"/>
          </a:xfrm>
          <a:prstGeom prst="rect">
            <a:avLst/>
          </a:prstGeom>
        </p:spPr>
      </p:pic>
      <p:sp>
        <p:nvSpPr>
          <p:cNvPr id="18" name="Text 15"/>
          <p:cNvSpPr/>
          <p:nvPr/>
        </p:nvSpPr>
        <p:spPr>
          <a:xfrm>
            <a:off x="6953407" y="3502150"/>
            <a:ext cx="803844" cy="100483"/>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Raleway" pitchFamily="34" charset="0"/>
                <a:ea typeface="Raleway" pitchFamily="34" charset="-122"/>
                <a:cs typeface="Raleway" pitchFamily="34" charset="-120"/>
              </a:rPr>
              <a:t>Django Dashboard</a:t>
            </a:r>
            <a:endParaRPr lang="en-US" sz="900" dirty="0"/>
          </a:p>
        </p:txBody>
      </p:sp>
      <p:sp>
        <p:nvSpPr>
          <p:cNvPr id="19" name="Text 16"/>
          <p:cNvSpPr/>
          <p:nvPr/>
        </p:nvSpPr>
        <p:spPr>
          <a:xfrm>
            <a:off x="6953407" y="3153855"/>
            <a:ext cx="803844" cy="100483"/>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Raleway" pitchFamily="34" charset="0"/>
                <a:ea typeface="Raleway" pitchFamily="34" charset="-122"/>
                <a:cs typeface="Raleway" pitchFamily="34" charset="-120"/>
              </a:rPr>
              <a:t>Wi‑Fi HTTP</a:t>
            </a:r>
            <a:endParaRPr lang="en-US" sz="900" dirty="0"/>
          </a:p>
        </p:txBody>
      </p:sp>
      <p:sp>
        <p:nvSpPr>
          <p:cNvPr id="20" name="Text 17"/>
          <p:cNvSpPr/>
          <p:nvPr/>
        </p:nvSpPr>
        <p:spPr>
          <a:xfrm>
            <a:off x="6953407" y="2799245"/>
            <a:ext cx="803844" cy="100483"/>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Raleway" pitchFamily="34" charset="0"/>
                <a:ea typeface="Raleway" pitchFamily="34" charset="-122"/>
                <a:cs typeface="Raleway" pitchFamily="34" charset="-120"/>
              </a:rPr>
              <a:t>ESP32 Process</a:t>
            </a:r>
            <a:endParaRPr lang="en-US" sz="900" dirty="0"/>
          </a:p>
        </p:txBody>
      </p:sp>
      <p:sp>
        <p:nvSpPr>
          <p:cNvPr id="21" name="Text 18"/>
          <p:cNvSpPr/>
          <p:nvPr/>
        </p:nvSpPr>
        <p:spPr>
          <a:xfrm>
            <a:off x="6953407" y="2459854"/>
            <a:ext cx="803844" cy="100483"/>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Raleway" pitchFamily="34" charset="0"/>
                <a:ea typeface="Raleway" pitchFamily="34" charset="-122"/>
                <a:cs typeface="Raleway" pitchFamily="34" charset="-120"/>
              </a:rPr>
              <a:t>Sensors Collect</a:t>
            </a:r>
            <a:endParaRPr lang="en-US" sz="900" dirty="0"/>
          </a:p>
        </p:txBody>
      </p:sp>
      <p:sp>
        <p:nvSpPr>
          <p:cNvPr id="22" name="Text 19"/>
          <p:cNvSpPr/>
          <p:nvPr/>
        </p:nvSpPr>
        <p:spPr>
          <a:xfrm>
            <a:off x="6847985" y="3830910"/>
            <a:ext cx="4724480" cy="277813"/>
          </a:xfrm>
          <a:prstGeom prst="rect">
            <a:avLst/>
          </a:prstGeom>
          <a:noFill/>
          <a:ln/>
        </p:spPr>
        <p:txBody>
          <a:bodyPr wrap="square" lIns="0" tIns="0" rIns="0" bIns="0" rtlCol="0" anchor="t">
            <a:noAutofit/>
          </a:bodyPr>
          <a:lstStyle/>
          <a:p>
            <a:pPr marL="0" indent="0" algn="l">
              <a:lnSpc>
                <a:spcPct val="117000"/>
              </a:lnSpc>
              <a:buNone/>
            </a:pPr>
            <a:r>
              <a:rPr lang="en-US" sz="900" dirty="0">
                <a:solidFill>
                  <a:srgbClr val="3C3939"/>
                </a:solidFill>
                <a:latin typeface="Roboto" pitchFamily="34" charset="0"/>
                <a:ea typeface="Roboto" pitchFamily="34" charset="-122"/>
                <a:cs typeface="Roboto" pitchFamily="34" charset="-120"/>
              </a:rPr>
              <a:t>ESP32 (dual-core 240 MHz) acts as the central edge processor, supporting cloud hosting via Render or AWS for multi-campus scalability.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60488"/>
            <a:ext cx="10868745" cy="335955"/>
          </a:xfrm>
          <a:prstGeom prst="rect">
            <a:avLst/>
          </a:prstGeom>
          <a:noFill/>
          <a:ln/>
        </p:spPr>
        <p:txBody>
          <a:bodyPr wrap="none" lIns="0" tIns="0" rIns="0" bIns="0" rtlCol="0" anchor="t"/>
          <a:lstStyle/>
          <a:p>
            <a:pPr marL="0" indent="0" algn="l">
              <a:lnSpc>
                <a:spcPct val="104000"/>
              </a:lnSpc>
              <a:buNone/>
            </a:pPr>
            <a:r>
              <a:rPr lang="en-US" sz="2100" dirty="0">
                <a:solidFill>
                  <a:srgbClr val="1B1B27"/>
                </a:solidFill>
                <a:latin typeface="Raleway" pitchFamily="34" charset="0"/>
                <a:ea typeface="Raleway" pitchFamily="34" charset="-122"/>
                <a:cs typeface="Raleway" pitchFamily="34" charset="-120"/>
              </a:rPr>
              <a:t>About the Project</a:t>
            </a:r>
            <a:endParaRPr lang="en-US" sz="2100" dirty="0"/>
          </a:p>
        </p:txBody>
      </p:sp>
      <p:sp>
        <p:nvSpPr>
          <p:cNvPr id="3" name="Text 1"/>
          <p:cNvSpPr/>
          <p:nvPr/>
        </p:nvSpPr>
        <p:spPr>
          <a:xfrm>
            <a:off x="661475" y="1836142"/>
            <a:ext cx="11478330"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CampusPulse integrates low-cost IoT hardware with a cloud-connected Django web application to deliver automated, real-time classroom energy management for educational institutions.</a:t>
            </a:r>
            <a:endParaRPr lang="en-US" sz="800" dirty="0"/>
          </a:p>
        </p:txBody>
      </p:sp>
      <p:sp>
        <p:nvSpPr>
          <p:cNvPr id="4" name="Text 2"/>
          <p:cNvSpPr/>
          <p:nvPr/>
        </p:nvSpPr>
        <p:spPr>
          <a:xfrm>
            <a:off x="661475" y="2126456"/>
            <a:ext cx="5080667" cy="167878"/>
          </a:xfrm>
          <a:prstGeom prst="rect">
            <a:avLst/>
          </a:prstGeom>
          <a:noFill/>
          <a:ln/>
        </p:spPr>
        <p:txBody>
          <a:bodyPr wrap="none" lIns="0" tIns="0" rIns="0" bIns="0" rtlCol="0" anchor="t"/>
          <a:lstStyle/>
          <a:p>
            <a:pPr marL="0" indent="0" algn="l">
              <a:lnSpc>
                <a:spcPct val="104000"/>
              </a:lnSpc>
              <a:buNone/>
            </a:pPr>
            <a:r>
              <a:rPr lang="en-US" sz="1050" dirty="0">
                <a:solidFill>
                  <a:srgbClr val="1B1B27"/>
                </a:solidFill>
                <a:latin typeface="Raleway" pitchFamily="34" charset="0"/>
                <a:ea typeface="Raleway" pitchFamily="34" charset="-122"/>
                <a:cs typeface="Raleway" pitchFamily="34" charset="-120"/>
              </a:rPr>
              <a:t>Project Objectives</a:t>
            </a:r>
            <a:endParaRPr lang="en-US" sz="10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757" y="2376239"/>
            <a:ext cx="161226" cy="161230"/>
          </a:xfrm>
          <a:prstGeom prst="rect">
            <a:avLst/>
          </a:prstGeom>
        </p:spPr>
      </p:pic>
      <p:sp>
        <p:nvSpPr>
          <p:cNvPr id="6" name="Text 3"/>
          <p:cNvSpPr/>
          <p:nvPr/>
        </p:nvSpPr>
        <p:spPr>
          <a:xfrm>
            <a:off x="1010716" y="2372916"/>
            <a:ext cx="4731425"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Reduce Electricity Wastage</a:t>
            </a:r>
            <a:endParaRPr lang="en-US" sz="1050" dirty="0"/>
          </a:p>
        </p:txBody>
      </p:sp>
      <p:sp>
        <p:nvSpPr>
          <p:cNvPr id="7" name="Text 4"/>
          <p:cNvSpPr/>
          <p:nvPr/>
        </p:nvSpPr>
        <p:spPr>
          <a:xfrm>
            <a:off x="1010716" y="2610644"/>
            <a:ext cx="4731425"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Automatically switch off appliances in unoccupied classrooms to eliminate idle consumption.</a:t>
            </a:r>
            <a:endParaRPr lang="en-US" sz="8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757" y="2895550"/>
            <a:ext cx="161226" cy="161230"/>
          </a:xfrm>
          <a:prstGeom prst="rect">
            <a:avLst/>
          </a:prstGeom>
        </p:spPr>
      </p:pic>
      <p:sp>
        <p:nvSpPr>
          <p:cNvPr id="9" name="Text 5"/>
          <p:cNvSpPr/>
          <p:nvPr/>
        </p:nvSpPr>
        <p:spPr>
          <a:xfrm>
            <a:off x="1010716" y="2892227"/>
            <a:ext cx="4731425"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Automate Classroom Monitoring</a:t>
            </a:r>
            <a:endParaRPr lang="en-US" sz="1050" dirty="0"/>
          </a:p>
        </p:txBody>
      </p:sp>
      <p:sp>
        <p:nvSpPr>
          <p:cNvPr id="10" name="Text 6"/>
          <p:cNvSpPr/>
          <p:nvPr/>
        </p:nvSpPr>
        <p:spPr>
          <a:xfrm>
            <a:off x="1010716" y="3129955"/>
            <a:ext cx="4731425"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Eliminate manual checks through continuous, sensor-based surveillance of all classrooms.</a:t>
            </a:r>
            <a:endParaRPr lang="en-US" sz="8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757" y="3414861"/>
            <a:ext cx="161226" cy="161230"/>
          </a:xfrm>
          <a:prstGeom prst="rect">
            <a:avLst/>
          </a:prstGeom>
        </p:spPr>
      </p:pic>
      <p:sp>
        <p:nvSpPr>
          <p:cNvPr id="12" name="Text 7"/>
          <p:cNvSpPr/>
          <p:nvPr/>
        </p:nvSpPr>
        <p:spPr>
          <a:xfrm>
            <a:off x="1010716" y="3411538"/>
            <a:ext cx="4731425"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Improve Energy Efficiency</a:t>
            </a:r>
            <a:endParaRPr lang="en-US" sz="1050" dirty="0"/>
          </a:p>
        </p:txBody>
      </p:sp>
      <p:sp>
        <p:nvSpPr>
          <p:cNvPr id="13" name="Text 8"/>
          <p:cNvSpPr/>
          <p:nvPr/>
        </p:nvSpPr>
        <p:spPr>
          <a:xfrm>
            <a:off x="1010716" y="3649266"/>
            <a:ext cx="4731425"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Optimize appliance usage based on real-time occupancy and environmental sensor data.</a:t>
            </a:r>
            <a:endParaRPr lang="en-US" sz="800" dirty="0"/>
          </a:p>
        </p:txBody>
      </p:sp>
      <p:pic>
        <p:nvPicPr>
          <p:cNvPr id="14"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757" y="3934172"/>
            <a:ext cx="161226" cy="161230"/>
          </a:xfrm>
          <a:prstGeom prst="rect">
            <a:avLst/>
          </a:prstGeom>
        </p:spPr>
      </p:pic>
      <p:sp>
        <p:nvSpPr>
          <p:cNvPr id="15" name="Text 9"/>
          <p:cNvSpPr/>
          <p:nvPr/>
        </p:nvSpPr>
        <p:spPr>
          <a:xfrm>
            <a:off x="1010716" y="3930848"/>
            <a:ext cx="4731425"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Enable Real-Time Monitoring</a:t>
            </a:r>
            <a:endParaRPr lang="en-US" sz="1050" dirty="0"/>
          </a:p>
        </p:txBody>
      </p:sp>
      <p:sp>
        <p:nvSpPr>
          <p:cNvPr id="16" name="Text 10"/>
          <p:cNvSpPr/>
          <p:nvPr/>
        </p:nvSpPr>
        <p:spPr>
          <a:xfrm>
            <a:off x="1010716" y="4168577"/>
            <a:ext cx="4731425"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Provide live sensor readings and appliance status via an accessible web dashboard.</a:t>
            </a:r>
            <a:endParaRPr lang="en-US" sz="800" dirty="0"/>
          </a:p>
        </p:txBody>
      </p:sp>
      <p:pic>
        <p:nvPicPr>
          <p:cNvPr id="17"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757" y="4453483"/>
            <a:ext cx="161226" cy="161230"/>
          </a:xfrm>
          <a:prstGeom prst="rect">
            <a:avLst/>
          </a:prstGeom>
        </p:spPr>
      </p:pic>
      <p:sp>
        <p:nvSpPr>
          <p:cNvPr id="18" name="Text 11"/>
          <p:cNvSpPr/>
          <p:nvPr/>
        </p:nvSpPr>
        <p:spPr>
          <a:xfrm>
            <a:off x="1010716" y="4450159"/>
            <a:ext cx="4731425"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Scalable Smart Campus Solution</a:t>
            </a:r>
            <a:endParaRPr lang="en-US" sz="1050" dirty="0"/>
          </a:p>
        </p:txBody>
      </p:sp>
      <p:sp>
        <p:nvSpPr>
          <p:cNvPr id="19" name="Text 12"/>
          <p:cNvSpPr/>
          <p:nvPr/>
        </p:nvSpPr>
        <p:spPr>
          <a:xfrm>
            <a:off x="1010716" y="4687888"/>
            <a:ext cx="4731425"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Design an extensible architecture covering multiple classrooms and entire buildings.</a:t>
            </a:r>
            <a:endParaRPr lang="en-US" sz="800" dirty="0"/>
          </a:p>
        </p:txBody>
      </p:sp>
      <p:sp>
        <p:nvSpPr>
          <p:cNvPr id="20" name="Shape 13"/>
          <p:cNvSpPr/>
          <p:nvPr/>
        </p:nvSpPr>
        <p:spPr>
          <a:xfrm>
            <a:off x="5933232" y="2056606"/>
            <a:ext cx="5680627" cy="3440906"/>
          </a:xfrm>
          <a:prstGeom prst="roundRect">
            <a:avLst>
              <a:gd name="adj" fmla="val 2249"/>
            </a:avLst>
          </a:prstGeom>
          <a:solidFill>
            <a:srgbClr val="1B1B27">
              <a:alpha val="95000"/>
            </a:srgbClr>
          </a:solidFill>
          <a:ln/>
        </p:spPr>
      </p:sp>
      <p:sp>
        <p:nvSpPr>
          <p:cNvPr id="21" name="Text 14"/>
          <p:cNvSpPr/>
          <p:nvPr/>
        </p:nvSpPr>
        <p:spPr>
          <a:xfrm>
            <a:off x="6040683" y="2126456"/>
            <a:ext cx="5465725"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Overall Data Flow</a:t>
            </a:r>
            <a:endParaRPr lang="en-US" sz="1050" dirty="0"/>
          </a:p>
        </p:txBody>
      </p:sp>
      <p:sp>
        <p:nvSpPr>
          <p:cNvPr id="22" name="Text 15"/>
          <p:cNvSpPr/>
          <p:nvPr/>
        </p:nvSpPr>
        <p:spPr>
          <a:xfrm>
            <a:off x="6040683" y="2372916"/>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FFFFFF"/>
                </a:solidFill>
                <a:latin typeface="Raleway Light" pitchFamily="34" charset="0"/>
                <a:ea typeface="Raleway Light" pitchFamily="34" charset="-122"/>
                <a:cs typeface="Raleway Light" pitchFamily="34" charset="-120"/>
              </a:rPr>
              <a:t>01</a:t>
            </a:r>
            <a:endParaRPr lang="en-US" sz="800" dirty="0"/>
          </a:p>
        </p:txBody>
      </p:sp>
      <p:sp>
        <p:nvSpPr>
          <p:cNvPr id="23" name="Shape 16"/>
          <p:cNvSpPr/>
          <p:nvPr/>
        </p:nvSpPr>
        <p:spPr>
          <a:xfrm>
            <a:off x="6040683" y="2542778"/>
            <a:ext cx="5465725" cy="12700"/>
          </a:xfrm>
          <a:prstGeom prst="rect">
            <a:avLst/>
          </a:prstGeom>
          <a:solidFill>
            <a:srgbClr val="1B1B27"/>
          </a:solidFill>
          <a:ln/>
        </p:spPr>
      </p:sp>
      <p:sp>
        <p:nvSpPr>
          <p:cNvPr id="24" name="Text 17"/>
          <p:cNvSpPr/>
          <p:nvPr/>
        </p:nvSpPr>
        <p:spPr>
          <a:xfrm>
            <a:off x="6040683" y="2621855"/>
            <a:ext cx="5465725"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Sensing Layer</a:t>
            </a:r>
            <a:endParaRPr lang="en-US" sz="1050" dirty="0"/>
          </a:p>
        </p:txBody>
      </p:sp>
      <p:sp>
        <p:nvSpPr>
          <p:cNvPr id="25" name="Text 18"/>
          <p:cNvSpPr/>
          <p:nvPr/>
        </p:nvSpPr>
        <p:spPr>
          <a:xfrm>
            <a:off x="6040683" y="2859584"/>
            <a:ext cx="5465725"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Sensors collect occupancy, temperature, humidity, and light intensity data continuously.</a:t>
            </a:r>
            <a:endParaRPr lang="en-US" sz="800" dirty="0"/>
          </a:p>
        </p:txBody>
      </p:sp>
      <p:sp>
        <p:nvSpPr>
          <p:cNvPr id="26" name="Text 19"/>
          <p:cNvSpPr/>
          <p:nvPr/>
        </p:nvSpPr>
        <p:spPr>
          <a:xfrm>
            <a:off x="6040683" y="3151882"/>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FFFFFF"/>
                </a:solidFill>
                <a:latin typeface="Raleway Light" pitchFamily="34" charset="0"/>
                <a:ea typeface="Raleway Light" pitchFamily="34" charset="-122"/>
                <a:cs typeface="Raleway Light" pitchFamily="34" charset="-120"/>
              </a:rPr>
              <a:t>02</a:t>
            </a:r>
            <a:endParaRPr lang="en-US" sz="800" dirty="0"/>
          </a:p>
        </p:txBody>
      </p:sp>
      <p:sp>
        <p:nvSpPr>
          <p:cNvPr id="27" name="Shape 20"/>
          <p:cNvSpPr/>
          <p:nvPr/>
        </p:nvSpPr>
        <p:spPr>
          <a:xfrm>
            <a:off x="6040683" y="3321745"/>
            <a:ext cx="5465725" cy="12700"/>
          </a:xfrm>
          <a:prstGeom prst="rect">
            <a:avLst/>
          </a:prstGeom>
          <a:solidFill>
            <a:srgbClr val="1B1B27"/>
          </a:solidFill>
          <a:ln/>
        </p:spPr>
      </p:sp>
      <p:sp>
        <p:nvSpPr>
          <p:cNvPr id="28" name="Text 21"/>
          <p:cNvSpPr/>
          <p:nvPr/>
        </p:nvSpPr>
        <p:spPr>
          <a:xfrm>
            <a:off x="6040683" y="3400822"/>
            <a:ext cx="5465725"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Edge Processing</a:t>
            </a:r>
            <a:endParaRPr lang="en-US" sz="1050" dirty="0"/>
          </a:p>
        </p:txBody>
      </p:sp>
      <p:sp>
        <p:nvSpPr>
          <p:cNvPr id="29" name="Text 22"/>
          <p:cNvSpPr/>
          <p:nvPr/>
        </p:nvSpPr>
        <p:spPr>
          <a:xfrm>
            <a:off x="6040683" y="3638550"/>
            <a:ext cx="5465725"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ESP32 processes all sensor inputs and transmits data to the backend via HTTP POST requests.</a:t>
            </a:r>
            <a:endParaRPr lang="en-US" sz="800" dirty="0"/>
          </a:p>
        </p:txBody>
      </p:sp>
      <p:sp>
        <p:nvSpPr>
          <p:cNvPr id="30" name="Text 23"/>
          <p:cNvSpPr/>
          <p:nvPr/>
        </p:nvSpPr>
        <p:spPr>
          <a:xfrm>
            <a:off x="6040683" y="3930848"/>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FFFFFF"/>
                </a:solidFill>
                <a:latin typeface="Raleway Light" pitchFamily="34" charset="0"/>
                <a:ea typeface="Raleway Light" pitchFamily="34" charset="-122"/>
                <a:cs typeface="Raleway Light" pitchFamily="34" charset="-120"/>
              </a:rPr>
              <a:t>03</a:t>
            </a:r>
            <a:endParaRPr lang="en-US" sz="800" dirty="0"/>
          </a:p>
        </p:txBody>
      </p:sp>
      <p:sp>
        <p:nvSpPr>
          <p:cNvPr id="31" name="Shape 24"/>
          <p:cNvSpPr/>
          <p:nvPr/>
        </p:nvSpPr>
        <p:spPr>
          <a:xfrm>
            <a:off x="6040683" y="4100711"/>
            <a:ext cx="5465725" cy="12700"/>
          </a:xfrm>
          <a:prstGeom prst="rect">
            <a:avLst/>
          </a:prstGeom>
          <a:solidFill>
            <a:srgbClr val="1B1B27"/>
          </a:solidFill>
          <a:ln/>
        </p:spPr>
      </p:sp>
      <p:sp>
        <p:nvSpPr>
          <p:cNvPr id="32" name="Text 25"/>
          <p:cNvSpPr/>
          <p:nvPr/>
        </p:nvSpPr>
        <p:spPr>
          <a:xfrm>
            <a:off x="6040683" y="4179788"/>
            <a:ext cx="5465725"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Backend Storage</a:t>
            </a:r>
            <a:endParaRPr lang="en-US" sz="1050" dirty="0"/>
          </a:p>
        </p:txBody>
      </p:sp>
      <p:sp>
        <p:nvSpPr>
          <p:cNvPr id="33" name="Text 26"/>
          <p:cNvSpPr/>
          <p:nvPr/>
        </p:nvSpPr>
        <p:spPr>
          <a:xfrm>
            <a:off x="6040683" y="4417516"/>
            <a:ext cx="5465725"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Django backend receives data and stores readings in a MySQL relational database.</a:t>
            </a:r>
            <a:endParaRPr lang="en-US" sz="800" dirty="0"/>
          </a:p>
        </p:txBody>
      </p:sp>
      <p:sp>
        <p:nvSpPr>
          <p:cNvPr id="34" name="Text 27"/>
          <p:cNvSpPr/>
          <p:nvPr/>
        </p:nvSpPr>
        <p:spPr>
          <a:xfrm>
            <a:off x="6040683" y="4709815"/>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FFFFFF"/>
                </a:solidFill>
                <a:latin typeface="Raleway Light" pitchFamily="34" charset="0"/>
                <a:ea typeface="Raleway Light" pitchFamily="34" charset="-122"/>
                <a:cs typeface="Raleway Light" pitchFamily="34" charset="-120"/>
              </a:rPr>
              <a:t>04</a:t>
            </a:r>
            <a:endParaRPr lang="en-US" sz="800" dirty="0"/>
          </a:p>
        </p:txBody>
      </p:sp>
      <p:sp>
        <p:nvSpPr>
          <p:cNvPr id="35" name="Shape 28"/>
          <p:cNvSpPr/>
          <p:nvPr/>
        </p:nvSpPr>
        <p:spPr>
          <a:xfrm>
            <a:off x="6040683" y="4879677"/>
            <a:ext cx="5465725" cy="12700"/>
          </a:xfrm>
          <a:prstGeom prst="rect">
            <a:avLst/>
          </a:prstGeom>
          <a:solidFill>
            <a:srgbClr val="1B1B27"/>
          </a:solidFill>
          <a:ln/>
        </p:spPr>
      </p:sp>
      <p:sp>
        <p:nvSpPr>
          <p:cNvPr id="36" name="Text 29"/>
          <p:cNvSpPr/>
          <p:nvPr/>
        </p:nvSpPr>
        <p:spPr>
          <a:xfrm>
            <a:off x="6040683" y="4958755"/>
            <a:ext cx="5465725"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Visualization &amp; Control</a:t>
            </a:r>
            <a:endParaRPr lang="en-US" sz="1050" dirty="0"/>
          </a:p>
        </p:txBody>
      </p:sp>
      <p:sp>
        <p:nvSpPr>
          <p:cNvPr id="37" name="Text 30"/>
          <p:cNvSpPr/>
          <p:nvPr/>
        </p:nvSpPr>
        <p:spPr>
          <a:xfrm>
            <a:off x="6040683" y="5196483"/>
            <a:ext cx="5465725"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Dashboard renders live analytics; relay module executes automated appliance control commands.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308001"/>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Raleway" pitchFamily="34" charset="0"/>
                <a:ea typeface="Raleway" pitchFamily="34" charset="-122"/>
                <a:cs typeface="Raleway" pitchFamily="34" charset="-120"/>
              </a:rPr>
              <a:t>Sensors and Hardware Components</a:t>
            </a:r>
            <a:endParaRPr lang="en-US" sz="2400" dirty="0"/>
          </a:p>
        </p:txBody>
      </p:sp>
      <p:sp>
        <p:nvSpPr>
          <p:cNvPr id="3" name="Text 1"/>
          <p:cNvSpPr/>
          <p:nvPr/>
        </p:nvSpPr>
        <p:spPr>
          <a:xfrm>
            <a:off x="661475" y="1881684"/>
            <a:ext cx="10868745"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The system uses a carefully selected set of low-cost, high-reliability IoT components to ensure accurate sensing, efficient edge processing, and dependable appliance control across all classroom deployments.</a:t>
            </a:r>
            <a:endParaRPr lang="en-US" sz="950" dirty="0"/>
          </a:p>
        </p:txBody>
      </p:sp>
      <p:sp>
        <p:nvSpPr>
          <p:cNvPr id="4" name="Shape 2"/>
          <p:cNvSpPr/>
          <p:nvPr/>
        </p:nvSpPr>
        <p:spPr>
          <a:xfrm>
            <a:off x="661475" y="2333526"/>
            <a:ext cx="10868745" cy="2699742"/>
          </a:xfrm>
          <a:prstGeom prst="roundRect">
            <a:avLst>
              <a:gd name="adj" fmla="val 1930"/>
            </a:avLst>
          </a:prstGeom>
          <a:noFill/>
          <a:ln w="6350">
            <a:solidFill>
              <a:srgbClr val="000000">
                <a:alpha val="8000"/>
              </a:srgbClr>
            </a:solidFill>
            <a:prstDash val="solid"/>
          </a:ln>
        </p:spPr>
      </p:sp>
      <p:sp>
        <p:nvSpPr>
          <p:cNvPr id="5" name="Shape 3"/>
          <p:cNvSpPr/>
          <p:nvPr/>
        </p:nvSpPr>
        <p:spPr>
          <a:xfrm>
            <a:off x="661475" y="2640905"/>
            <a:ext cx="10868745" cy="7753"/>
          </a:xfrm>
          <a:prstGeom prst="rect">
            <a:avLst/>
          </a:prstGeom>
          <a:solidFill>
            <a:srgbClr val="000000">
              <a:alpha val="8000"/>
            </a:srgbClr>
          </a:solidFill>
          <a:ln/>
        </p:spPr>
      </p:sp>
      <p:sp>
        <p:nvSpPr>
          <p:cNvPr id="6" name="Shape 4"/>
          <p:cNvSpPr/>
          <p:nvPr/>
        </p:nvSpPr>
        <p:spPr>
          <a:xfrm>
            <a:off x="661475" y="3118743"/>
            <a:ext cx="10868745" cy="7753"/>
          </a:xfrm>
          <a:prstGeom prst="rect">
            <a:avLst/>
          </a:prstGeom>
          <a:solidFill>
            <a:srgbClr val="000000">
              <a:alpha val="8000"/>
            </a:srgbClr>
          </a:solidFill>
          <a:ln/>
        </p:spPr>
      </p:sp>
      <p:sp>
        <p:nvSpPr>
          <p:cNvPr id="7" name="Shape 5"/>
          <p:cNvSpPr/>
          <p:nvPr/>
        </p:nvSpPr>
        <p:spPr>
          <a:xfrm>
            <a:off x="661475" y="3596580"/>
            <a:ext cx="10868745" cy="7753"/>
          </a:xfrm>
          <a:prstGeom prst="rect">
            <a:avLst/>
          </a:prstGeom>
          <a:solidFill>
            <a:srgbClr val="000000">
              <a:alpha val="8000"/>
            </a:srgbClr>
          </a:solidFill>
          <a:ln/>
        </p:spPr>
      </p:sp>
      <p:sp>
        <p:nvSpPr>
          <p:cNvPr id="8" name="Shape 6"/>
          <p:cNvSpPr/>
          <p:nvPr/>
        </p:nvSpPr>
        <p:spPr>
          <a:xfrm>
            <a:off x="661475" y="4074418"/>
            <a:ext cx="10868745" cy="7753"/>
          </a:xfrm>
          <a:prstGeom prst="rect">
            <a:avLst/>
          </a:prstGeom>
          <a:solidFill>
            <a:srgbClr val="000000">
              <a:alpha val="8000"/>
            </a:srgbClr>
          </a:solidFill>
          <a:ln/>
        </p:spPr>
      </p:sp>
      <p:sp>
        <p:nvSpPr>
          <p:cNvPr id="9" name="Shape 7"/>
          <p:cNvSpPr/>
          <p:nvPr/>
        </p:nvSpPr>
        <p:spPr>
          <a:xfrm>
            <a:off x="661475" y="4552255"/>
            <a:ext cx="10868745" cy="7753"/>
          </a:xfrm>
          <a:prstGeom prst="rect">
            <a:avLst/>
          </a:prstGeom>
          <a:solidFill>
            <a:srgbClr val="000000">
              <a:alpha val="8000"/>
            </a:srgbClr>
          </a:solidFill>
          <a:ln/>
        </p:spPr>
      </p:sp>
      <p:sp>
        <p:nvSpPr>
          <p:cNvPr id="10" name="Shape 8"/>
          <p:cNvSpPr/>
          <p:nvPr/>
        </p:nvSpPr>
        <p:spPr>
          <a:xfrm>
            <a:off x="668023" y="2339876"/>
            <a:ext cx="2388235" cy="301030"/>
          </a:xfrm>
          <a:prstGeom prst="rect">
            <a:avLst/>
          </a:prstGeom>
          <a:solidFill>
            <a:srgbClr val="1B1B27"/>
          </a:solidFill>
          <a:ln/>
        </p:spPr>
      </p:sp>
      <p:sp>
        <p:nvSpPr>
          <p:cNvPr id="11" name="Text 9"/>
          <p:cNvSpPr/>
          <p:nvPr/>
        </p:nvSpPr>
        <p:spPr>
          <a:xfrm>
            <a:off x="792043" y="2401987"/>
            <a:ext cx="2749779" cy="173633"/>
          </a:xfrm>
          <a:prstGeom prst="rect">
            <a:avLst/>
          </a:prstGeom>
          <a:noFill/>
          <a:ln/>
        </p:spPr>
        <p:txBody>
          <a:bodyPr wrap="none" lIns="0" tIns="0" rIns="0" bIns="0" rtlCol="0" anchor="t"/>
          <a:lstStyle/>
          <a:p>
            <a:pPr marL="0" indent="0" algn="l">
              <a:lnSpc>
                <a:spcPct val="117000"/>
              </a:lnSpc>
              <a:buNone/>
            </a:pPr>
            <a:r>
              <a:rPr lang="en-US" sz="950" b="1" dirty="0">
                <a:solidFill>
                  <a:srgbClr val="FFFFFF"/>
                </a:solidFill>
                <a:latin typeface="Roboto Bold" pitchFamily="34" charset="0"/>
                <a:ea typeface="Roboto Bold" pitchFamily="34" charset="-122"/>
                <a:cs typeface="Roboto Bold" pitchFamily="34" charset="-120"/>
              </a:rPr>
              <a:t>Component</a:t>
            </a:r>
            <a:endParaRPr lang="en-US" sz="950" dirty="0"/>
          </a:p>
        </p:txBody>
      </p:sp>
      <p:sp>
        <p:nvSpPr>
          <p:cNvPr id="12" name="Shape 10"/>
          <p:cNvSpPr/>
          <p:nvPr/>
        </p:nvSpPr>
        <p:spPr>
          <a:xfrm>
            <a:off x="3056258" y="2339876"/>
            <a:ext cx="4559484" cy="301030"/>
          </a:xfrm>
          <a:prstGeom prst="rect">
            <a:avLst/>
          </a:prstGeom>
          <a:solidFill>
            <a:srgbClr val="1B1B27"/>
          </a:solidFill>
          <a:ln/>
        </p:spPr>
      </p:sp>
      <p:sp>
        <p:nvSpPr>
          <p:cNvPr id="13" name="Text 11"/>
          <p:cNvSpPr/>
          <p:nvPr/>
        </p:nvSpPr>
        <p:spPr>
          <a:xfrm>
            <a:off x="3180278" y="2401987"/>
            <a:ext cx="4921028" cy="173633"/>
          </a:xfrm>
          <a:prstGeom prst="rect">
            <a:avLst/>
          </a:prstGeom>
          <a:noFill/>
          <a:ln/>
        </p:spPr>
        <p:txBody>
          <a:bodyPr wrap="none" lIns="0" tIns="0" rIns="0" bIns="0" rtlCol="0" anchor="t"/>
          <a:lstStyle/>
          <a:p>
            <a:pPr marL="0" indent="0" algn="l">
              <a:lnSpc>
                <a:spcPct val="117000"/>
              </a:lnSpc>
              <a:buNone/>
            </a:pPr>
            <a:r>
              <a:rPr lang="en-US" sz="950" b="1" dirty="0">
                <a:solidFill>
                  <a:srgbClr val="FFFFFF"/>
                </a:solidFill>
                <a:latin typeface="Roboto Bold" pitchFamily="34" charset="0"/>
                <a:ea typeface="Roboto Bold" pitchFamily="34" charset="-122"/>
                <a:cs typeface="Roboto Bold" pitchFamily="34" charset="-120"/>
              </a:rPr>
              <a:t>Purpose</a:t>
            </a:r>
            <a:endParaRPr lang="en-US" sz="950" dirty="0"/>
          </a:p>
        </p:txBody>
      </p:sp>
      <p:sp>
        <p:nvSpPr>
          <p:cNvPr id="14" name="Shape 12"/>
          <p:cNvSpPr/>
          <p:nvPr/>
        </p:nvSpPr>
        <p:spPr>
          <a:xfrm>
            <a:off x="7615742" y="2339876"/>
            <a:ext cx="3908129" cy="301030"/>
          </a:xfrm>
          <a:prstGeom prst="rect">
            <a:avLst/>
          </a:prstGeom>
          <a:solidFill>
            <a:srgbClr val="1B1B27"/>
          </a:solidFill>
          <a:ln/>
        </p:spPr>
      </p:sp>
      <p:sp>
        <p:nvSpPr>
          <p:cNvPr id="15" name="Text 13"/>
          <p:cNvSpPr/>
          <p:nvPr/>
        </p:nvSpPr>
        <p:spPr>
          <a:xfrm>
            <a:off x="7739762" y="2401987"/>
            <a:ext cx="4269673" cy="173633"/>
          </a:xfrm>
          <a:prstGeom prst="rect">
            <a:avLst/>
          </a:prstGeom>
          <a:noFill/>
          <a:ln/>
        </p:spPr>
        <p:txBody>
          <a:bodyPr wrap="none" lIns="0" tIns="0" rIns="0" bIns="0" rtlCol="0" anchor="t"/>
          <a:lstStyle/>
          <a:p>
            <a:pPr marL="0" indent="0" algn="l">
              <a:lnSpc>
                <a:spcPct val="117000"/>
              </a:lnSpc>
              <a:buNone/>
            </a:pPr>
            <a:r>
              <a:rPr lang="en-US" sz="950" b="1" dirty="0">
                <a:solidFill>
                  <a:srgbClr val="FFFFFF"/>
                </a:solidFill>
                <a:latin typeface="Roboto Bold" pitchFamily="34" charset="0"/>
                <a:ea typeface="Roboto Bold" pitchFamily="34" charset="-122"/>
                <a:cs typeface="Roboto Bold" pitchFamily="34" charset="-120"/>
              </a:rPr>
              <a:t>Key Specification</a:t>
            </a:r>
            <a:endParaRPr lang="en-US" sz="950" dirty="0"/>
          </a:p>
        </p:txBody>
      </p:sp>
      <p:sp>
        <p:nvSpPr>
          <p:cNvPr id="16" name="Text 14"/>
          <p:cNvSpPr/>
          <p:nvPr/>
        </p:nvSpPr>
        <p:spPr>
          <a:xfrm>
            <a:off x="792043" y="2706191"/>
            <a:ext cx="2749779" cy="173633"/>
          </a:xfrm>
          <a:prstGeom prst="rect">
            <a:avLst/>
          </a:prstGeom>
          <a:noFill/>
          <a:ln/>
        </p:spPr>
        <p:txBody>
          <a:bodyPr wrap="none" lIns="0" tIns="0" rIns="0" bIns="0" rtlCol="0" anchor="t"/>
          <a:lstStyle/>
          <a:p>
            <a:pPr marL="0" indent="0" algn="l">
              <a:lnSpc>
                <a:spcPct val="117000"/>
              </a:lnSpc>
              <a:buNone/>
            </a:pPr>
            <a:r>
              <a:rPr lang="en-US" sz="950" b="1" dirty="0">
                <a:solidFill>
                  <a:srgbClr val="3C3939"/>
                </a:solidFill>
                <a:latin typeface="Roboto Bold" pitchFamily="34" charset="0"/>
                <a:ea typeface="Roboto Bold" pitchFamily="34" charset="-122"/>
                <a:cs typeface="Roboto Bold" pitchFamily="34" charset="-120"/>
              </a:rPr>
              <a:t>ESP32</a:t>
            </a:r>
            <a:endParaRPr lang="en-US" sz="950" dirty="0"/>
          </a:p>
        </p:txBody>
      </p:sp>
      <p:sp>
        <p:nvSpPr>
          <p:cNvPr id="17" name="Text 15"/>
          <p:cNvSpPr/>
          <p:nvPr/>
        </p:nvSpPr>
        <p:spPr>
          <a:xfrm>
            <a:off x="3180278" y="2706191"/>
            <a:ext cx="4311443"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Central microcontroller — processes sensor data and manages Wi-Fi communication</a:t>
            </a:r>
            <a:endParaRPr lang="en-US" sz="950" dirty="0"/>
          </a:p>
        </p:txBody>
      </p:sp>
      <p:sp>
        <p:nvSpPr>
          <p:cNvPr id="18" name="Text 16"/>
          <p:cNvSpPr/>
          <p:nvPr/>
        </p:nvSpPr>
        <p:spPr>
          <a:xfrm>
            <a:off x="7739762" y="2706191"/>
            <a:ext cx="4269673" cy="173633"/>
          </a:xfrm>
          <a:prstGeom prst="rect">
            <a:avLst/>
          </a:prstGeom>
          <a:noFill/>
          <a:ln/>
        </p:spPr>
        <p:txBody>
          <a:bodyPr wrap="none" lIns="0" tIns="0" rIns="0" bIns="0" rtlCol="0" anchor="t"/>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Dual-core 240 MHz, built-in Wi-Fi &amp; Bluetooth</a:t>
            </a:r>
            <a:endParaRPr lang="en-US" sz="950" dirty="0"/>
          </a:p>
        </p:txBody>
      </p:sp>
      <p:sp>
        <p:nvSpPr>
          <p:cNvPr id="19" name="Text 17"/>
          <p:cNvSpPr/>
          <p:nvPr/>
        </p:nvSpPr>
        <p:spPr>
          <a:xfrm>
            <a:off x="792043" y="3184029"/>
            <a:ext cx="2749779" cy="173633"/>
          </a:xfrm>
          <a:prstGeom prst="rect">
            <a:avLst/>
          </a:prstGeom>
          <a:noFill/>
          <a:ln/>
        </p:spPr>
        <p:txBody>
          <a:bodyPr wrap="none" lIns="0" tIns="0" rIns="0" bIns="0" rtlCol="0" anchor="t"/>
          <a:lstStyle/>
          <a:p>
            <a:pPr marL="0" indent="0" algn="l">
              <a:lnSpc>
                <a:spcPct val="117000"/>
              </a:lnSpc>
              <a:buNone/>
            </a:pPr>
            <a:r>
              <a:rPr lang="en-US" sz="950" b="1" dirty="0">
                <a:solidFill>
                  <a:srgbClr val="3C3939"/>
                </a:solidFill>
                <a:latin typeface="Roboto Bold" pitchFamily="34" charset="0"/>
                <a:ea typeface="Roboto Bold" pitchFamily="34" charset="-122"/>
                <a:cs typeface="Roboto Bold" pitchFamily="34" charset="-120"/>
              </a:rPr>
              <a:t>PIR Sensor</a:t>
            </a:r>
            <a:endParaRPr lang="en-US" sz="950" dirty="0"/>
          </a:p>
        </p:txBody>
      </p:sp>
      <p:sp>
        <p:nvSpPr>
          <p:cNvPr id="20" name="Text 18"/>
          <p:cNvSpPr/>
          <p:nvPr/>
        </p:nvSpPr>
        <p:spPr>
          <a:xfrm>
            <a:off x="3180278" y="3184029"/>
            <a:ext cx="4311443"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Detect classroom occupancy by sensing infrared motion from persons in the room</a:t>
            </a:r>
            <a:endParaRPr lang="en-US" sz="950" dirty="0"/>
          </a:p>
        </p:txBody>
      </p:sp>
      <p:sp>
        <p:nvSpPr>
          <p:cNvPr id="21" name="Text 19"/>
          <p:cNvSpPr/>
          <p:nvPr/>
        </p:nvSpPr>
        <p:spPr>
          <a:xfrm>
            <a:off x="7739762" y="3184029"/>
            <a:ext cx="4269673" cy="173633"/>
          </a:xfrm>
          <a:prstGeom prst="rect">
            <a:avLst/>
          </a:prstGeom>
          <a:noFill/>
          <a:ln/>
        </p:spPr>
        <p:txBody>
          <a:bodyPr wrap="none" lIns="0" tIns="0" rIns="0" bIns="0" rtlCol="0" anchor="t"/>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Detection range: up to 7 m, adjustable sensitivity</a:t>
            </a:r>
            <a:endParaRPr lang="en-US" sz="950" dirty="0"/>
          </a:p>
        </p:txBody>
      </p:sp>
      <p:sp>
        <p:nvSpPr>
          <p:cNvPr id="22" name="Text 20"/>
          <p:cNvSpPr/>
          <p:nvPr/>
        </p:nvSpPr>
        <p:spPr>
          <a:xfrm>
            <a:off x="792043" y="3661866"/>
            <a:ext cx="2749779" cy="173633"/>
          </a:xfrm>
          <a:prstGeom prst="rect">
            <a:avLst/>
          </a:prstGeom>
          <a:noFill/>
          <a:ln/>
        </p:spPr>
        <p:txBody>
          <a:bodyPr wrap="none" lIns="0" tIns="0" rIns="0" bIns="0" rtlCol="0" anchor="t"/>
          <a:lstStyle/>
          <a:p>
            <a:pPr marL="0" indent="0" algn="l">
              <a:lnSpc>
                <a:spcPct val="117000"/>
              </a:lnSpc>
              <a:buNone/>
            </a:pPr>
            <a:r>
              <a:rPr lang="en-US" sz="950" b="1" dirty="0">
                <a:solidFill>
                  <a:srgbClr val="3C3939"/>
                </a:solidFill>
                <a:latin typeface="Roboto Bold" pitchFamily="34" charset="0"/>
                <a:ea typeface="Roboto Bold" pitchFamily="34" charset="-122"/>
                <a:cs typeface="Roboto Bold" pitchFamily="34" charset="-120"/>
              </a:rPr>
              <a:t>DHT22</a:t>
            </a:r>
            <a:endParaRPr lang="en-US" sz="950" dirty="0"/>
          </a:p>
        </p:txBody>
      </p:sp>
      <p:sp>
        <p:nvSpPr>
          <p:cNvPr id="23" name="Text 21"/>
          <p:cNvSpPr/>
          <p:nvPr/>
        </p:nvSpPr>
        <p:spPr>
          <a:xfrm>
            <a:off x="3180278" y="3661866"/>
            <a:ext cx="4311443"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Measure ambient temperature and relative humidity for environmental comfort monitoring</a:t>
            </a:r>
            <a:endParaRPr lang="en-US" sz="950" dirty="0"/>
          </a:p>
        </p:txBody>
      </p:sp>
      <p:sp>
        <p:nvSpPr>
          <p:cNvPr id="24" name="Text 22"/>
          <p:cNvSpPr/>
          <p:nvPr/>
        </p:nvSpPr>
        <p:spPr>
          <a:xfrm>
            <a:off x="7739762" y="3661866"/>
            <a:ext cx="4269673" cy="173633"/>
          </a:xfrm>
          <a:prstGeom prst="rect">
            <a:avLst/>
          </a:prstGeom>
          <a:noFill/>
          <a:ln/>
        </p:spPr>
        <p:txBody>
          <a:bodyPr wrap="none" lIns="0" tIns="0" rIns="0" bIns="0" rtlCol="0" anchor="t"/>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Temp: −40°C to 80°C, Humidity: 0–100% RH</a:t>
            </a:r>
            <a:endParaRPr lang="en-US" sz="950" dirty="0"/>
          </a:p>
        </p:txBody>
      </p:sp>
      <p:sp>
        <p:nvSpPr>
          <p:cNvPr id="25" name="Text 23"/>
          <p:cNvSpPr/>
          <p:nvPr/>
        </p:nvSpPr>
        <p:spPr>
          <a:xfrm>
            <a:off x="792043" y="4139704"/>
            <a:ext cx="2749779" cy="173633"/>
          </a:xfrm>
          <a:prstGeom prst="rect">
            <a:avLst/>
          </a:prstGeom>
          <a:noFill/>
          <a:ln/>
        </p:spPr>
        <p:txBody>
          <a:bodyPr wrap="none" lIns="0" tIns="0" rIns="0" bIns="0" rtlCol="0" anchor="t"/>
          <a:lstStyle/>
          <a:p>
            <a:pPr marL="0" indent="0" algn="l">
              <a:lnSpc>
                <a:spcPct val="117000"/>
              </a:lnSpc>
              <a:buNone/>
            </a:pPr>
            <a:r>
              <a:rPr lang="en-US" sz="950" b="1" dirty="0">
                <a:solidFill>
                  <a:srgbClr val="3C3939"/>
                </a:solidFill>
                <a:latin typeface="Roboto Bold" pitchFamily="34" charset="0"/>
                <a:ea typeface="Roboto Bold" pitchFamily="34" charset="-122"/>
                <a:cs typeface="Roboto Bold" pitchFamily="34" charset="-120"/>
              </a:rPr>
              <a:t>BH1750</a:t>
            </a:r>
            <a:endParaRPr lang="en-US" sz="950" dirty="0"/>
          </a:p>
        </p:txBody>
      </p:sp>
      <p:sp>
        <p:nvSpPr>
          <p:cNvPr id="26" name="Text 24"/>
          <p:cNvSpPr/>
          <p:nvPr/>
        </p:nvSpPr>
        <p:spPr>
          <a:xfrm>
            <a:off x="3180278" y="4139704"/>
            <a:ext cx="4311443"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Measure classroom illumination in lux via I²C interface for smart lighting decisions</a:t>
            </a:r>
            <a:endParaRPr lang="en-US" sz="950" dirty="0"/>
          </a:p>
        </p:txBody>
      </p:sp>
      <p:sp>
        <p:nvSpPr>
          <p:cNvPr id="27" name="Text 25"/>
          <p:cNvSpPr/>
          <p:nvPr/>
        </p:nvSpPr>
        <p:spPr>
          <a:xfrm>
            <a:off x="7739762" y="4139704"/>
            <a:ext cx="4269673" cy="173633"/>
          </a:xfrm>
          <a:prstGeom prst="rect">
            <a:avLst/>
          </a:prstGeom>
          <a:noFill/>
          <a:ln/>
        </p:spPr>
        <p:txBody>
          <a:bodyPr wrap="none" lIns="0" tIns="0" rIns="0" bIns="0" rtlCol="0" anchor="t"/>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Range: 1–65535 lux, high accuracy</a:t>
            </a:r>
            <a:endParaRPr lang="en-US" sz="950" dirty="0"/>
          </a:p>
        </p:txBody>
      </p:sp>
      <p:sp>
        <p:nvSpPr>
          <p:cNvPr id="28" name="Text 26"/>
          <p:cNvSpPr/>
          <p:nvPr/>
        </p:nvSpPr>
        <p:spPr>
          <a:xfrm>
            <a:off x="792043" y="4617541"/>
            <a:ext cx="2749779" cy="173633"/>
          </a:xfrm>
          <a:prstGeom prst="rect">
            <a:avLst/>
          </a:prstGeom>
          <a:noFill/>
          <a:ln/>
        </p:spPr>
        <p:txBody>
          <a:bodyPr wrap="none" lIns="0" tIns="0" rIns="0" bIns="0" rtlCol="0" anchor="t"/>
          <a:lstStyle/>
          <a:p>
            <a:pPr marL="0" indent="0" algn="l">
              <a:lnSpc>
                <a:spcPct val="117000"/>
              </a:lnSpc>
              <a:buNone/>
            </a:pPr>
            <a:r>
              <a:rPr lang="en-US" sz="950" b="1" dirty="0">
                <a:solidFill>
                  <a:srgbClr val="3C3939"/>
                </a:solidFill>
                <a:latin typeface="Roboto Bold" pitchFamily="34" charset="0"/>
                <a:ea typeface="Roboto Bold" pitchFamily="34" charset="-122"/>
                <a:cs typeface="Roboto Bold" pitchFamily="34" charset="-120"/>
              </a:rPr>
              <a:t>Relay Module</a:t>
            </a:r>
            <a:endParaRPr lang="en-US" sz="950" dirty="0"/>
          </a:p>
        </p:txBody>
      </p:sp>
      <p:sp>
        <p:nvSpPr>
          <p:cNvPr id="29" name="Text 27"/>
          <p:cNvSpPr/>
          <p:nvPr/>
        </p:nvSpPr>
        <p:spPr>
          <a:xfrm>
            <a:off x="3180278" y="4617541"/>
            <a:ext cx="4311443"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Switch lights and fans ON/OFF based on occupancy signals received from ESP32</a:t>
            </a:r>
            <a:endParaRPr lang="en-US" sz="950" dirty="0"/>
          </a:p>
        </p:txBody>
      </p:sp>
      <p:sp>
        <p:nvSpPr>
          <p:cNvPr id="30" name="Text 28"/>
          <p:cNvSpPr/>
          <p:nvPr/>
        </p:nvSpPr>
        <p:spPr>
          <a:xfrm>
            <a:off x="7739762" y="4617541"/>
            <a:ext cx="4269673" cy="173633"/>
          </a:xfrm>
          <a:prstGeom prst="rect">
            <a:avLst/>
          </a:prstGeom>
          <a:noFill/>
          <a:ln/>
        </p:spPr>
        <p:txBody>
          <a:bodyPr wrap="none" lIns="0" tIns="0" rIns="0" bIns="0" rtlCol="0" anchor="t"/>
          <a:lstStyle/>
          <a:p>
            <a:pPr marL="0" indent="0" algn="l">
              <a:lnSpc>
                <a:spcPct val="117000"/>
              </a:lnSpc>
              <a:buNone/>
            </a:pPr>
            <a:r>
              <a:rPr lang="en-US" sz="950" dirty="0">
                <a:solidFill>
                  <a:srgbClr val="3C3939"/>
                </a:solidFill>
                <a:latin typeface="Roboto" pitchFamily="34" charset="0"/>
                <a:ea typeface="Roboto" pitchFamily="34" charset="-122"/>
                <a:cs typeface="Roboto" pitchFamily="34" charset="-120"/>
              </a:rPr>
              <a:t>5 V control signal, supports AC/DC load switching</a:t>
            </a:r>
            <a:endParaRPr lang="en-US" sz="950" dirty="0"/>
          </a:p>
        </p:txBody>
      </p:sp>
      <p:sp>
        <p:nvSpPr>
          <p:cNvPr id="31" name="Shape 29"/>
          <p:cNvSpPr/>
          <p:nvPr/>
        </p:nvSpPr>
        <p:spPr>
          <a:xfrm>
            <a:off x="661475" y="5137845"/>
            <a:ext cx="10868745" cy="412155"/>
          </a:xfrm>
          <a:prstGeom prst="roundRect">
            <a:avLst>
              <a:gd name="adj" fmla="val 12640"/>
            </a:avLst>
          </a:prstGeom>
          <a:solidFill>
            <a:srgbClr val="E1E1EA"/>
          </a:solidFill>
          <a:ln/>
        </p:spPr>
      </p:sp>
      <p:pic>
        <p:nvPicPr>
          <p:cNvPr id="32" name="Image 0" descr="preencoded.png"/>
          <p:cNvPicPr>
            <a:picLocks noChangeAspect="1"/>
          </p:cNvPicPr>
          <p:nvPr/>
        </p:nvPicPr>
        <p:blipFill>
          <a:blip r:embed="rId3"/>
          <a:stretch>
            <a:fillRect/>
          </a:stretch>
        </p:blipFill>
        <p:spPr>
          <a:xfrm>
            <a:off x="785495" y="5304929"/>
            <a:ext cx="154976" cy="124023"/>
          </a:xfrm>
          <a:prstGeom prst="rect">
            <a:avLst/>
          </a:prstGeom>
        </p:spPr>
      </p:pic>
      <p:sp>
        <p:nvSpPr>
          <p:cNvPr id="33" name="Text 30"/>
          <p:cNvSpPr/>
          <p:nvPr/>
        </p:nvSpPr>
        <p:spPr>
          <a:xfrm>
            <a:off x="1064491" y="5261769"/>
            <a:ext cx="10951293" cy="173633"/>
          </a:xfrm>
          <a:prstGeom prst="rect">
            <a:avLst/>
          </a:prstGeom>
          <a:noFill/>
          <a:ln/>
        </p:spPr>
        <p:txBody>
          <a:bodyPr wrap="none" lIns="0" tIns="0" rIns="0" bIns="0" rtlCol="0" anchor="t"/>
          <a:lstStyle/>
          <a:p>
            <a:pPr marL="0" indent="0" algn="l">
              <a:lnSpc>
                <a:spcPct val="117000"/>
              </a:lnSpc>
              <a:buNone/>
            </a:pPr>
            <a:r>
              <a:rPr lang="en-US" sz="950" dirty="0">
                <a:solidFill>
                  <a:srgbClr val="000000"/>
                </a:solidFill>
                <a:latin typeface="Roboto" pitchFamily="34" charset="0"/>
                <a:ea typeface="Roboto" pitchFamily="34" charset="-122"/>
                <a:cs typeface="Roboto" pitchFamily="34" charset="-120"/>
              </a:rPr>
              <a:t>All components are commercially available, low-cost, and field-proven in IoT deployments, making the system highly replicable across campuses.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018580"/>
            <a:ext cx="10868745" cy="361752"/>
          </a:xfrm>
          <a:prstGeom prst="rect">
            <a:avLst/>
          </a:prstGeom>
          <a:noFill/>
          <a:ln/>
        </p:spPr>
        <p:txBody>
          <a:bodyPr wrap="none" lIns="0" tIns="0" rIns="0" bIns="0" rtlCol="0" anchor="t"/>
          <a:lstStyle/>
          <a:p>
            <a:pPr marL="0" indent="0" algn="l">
              <a:lnSpc>
                <a:spcPct val="104000"/>
              </a:lnSpc>
              <a:buNone/>
            </a:pPr>
            <a:r>
              <a:rPr lang="en-US" sz="2250" dirty="0">
                <a:solidFill>
                  <a:srgbClr val="1B1B27"/>
                </a:solidFill>
                <a:latin typeface="Raleway" pitchFamily="34" charset="0"/>
                <a:ea typeface="Raleway" pitchFamily="34" charset="-122"/>
                <a:cs typeface="Raleway" pitchFamily="34" charset="-120"/>
              </a:rPr>
              <a:t>Technology Stack: Database and Cloud</a:t>
            </a:r>
            <a:endParaRPr lang="en-US" sz="2250" dirty="0"/>
          </a:p>
        </p:txBody>
      </p:sp>
      <p:sp>
        <p:nvSpPr>
          <p:cNvPr id="3" name="Text 1"/>
          <p:cNvSpPr/>
          <p:nvPr/>
        </p:nvSpPr>
        <p:spPr>
          <a:xfrm>
            <a:off x="661475" y="1542355"/>
            <a:ext cx="10868745" cy="314920"/>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C3939"/>
                </a:solidFill>
                <a:latin typeface="Roboto" pitchFamily="34" charset="0"/>
                <a:ea typeface="Roboto" pitchFamily="34" charset="-122"/>
                <a:cs typeface="Roboto" pitchFamily="34" charset="-120"/>
              </a:rPr>
              <a:t>CampusPulse employs a full-stack web architecture combining embedded firmware, a Python/Django backend, a relational database, and cloud deployment to deliver a reliable, remotely accessible monitoring platform.</a:t>
            </a:r>
            <a:endParaRPr lang="en-US" sz="9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039441"/>
            <a:ext cx="5293188" cy="833537"/>
          </a:xfrm>
          <a:prstGeom prst="rect">
            <a:avLst/>
          </a:prstGeom>
        </p:spPr>
      </p:pic>
      <p:sp>
        <p:nvSpPr>
          <p:cNvPr id="5" name="Text 2"/>
          <p:cNvSpPr/>
          <p:nvPr/>
        </p:nvSpPr>
        <p:spPr>
          <a:xfrm>
            <a:off x="1218177" y="2167830"/>
            <a:ext cx="4608100" cy="180876"/>
          </a:xfrm>
          <a:prstGeom prst="rect">
            <a:avLst/>
          </a:prstGeom>
          <a:noFill/>
          <a:ln/>
        </p:spPr>
        <p:txBody>
          <a:bodyPr wrap="none" lIns="0" tIns="0" rIns="0" bIns="0" rtlCol="0" anchor="t"/>
          <a:lstStyle/>
          <a:p>
            <a:pPr marL="0" indent="0" algn="l">
              <a:lnSpc>
                <a:spcPct val="104000"/>
              </a:lnSpc>
              <a:buNone/>
            </a:pPr>
            <a:r>
              <a:rPr lang="en-US" sz="1100" dirty="0">
                <a:solidFill>
                  <a:schemeClr val="bg1"/>
                </a:solidFill>
                <a:latin typeface="Raleway" pitchFamily="34" charset="0"/>
                <a:ea typeface="Raleway" pitchFamily="34" charset="-122"/>
                <a:cs typeface="Raleway" pitchFamily="34" charset="-120"/>
              </a:rPr>
              <a:t>Frontend</a:t>
            </a:r>
            <a:endParaRPr lang="en-US" sz="1100" dirty="0">
              <a:solidFill>
                <a:schemeClr val="bg1"/>
              </a:solidFill>
            </a:endParaRPr>
          </a:p>
        </p:txBody>
      </p:sp>
      <p:sp>
        <p:nvSpPr>
          <p:cNvPr id="6" name="Text 3"/>
          <p:cNvSpPr/>
          <p:nvPr/>
        </p:nvSpPr>
        <p:spPr>
          <a:xfrm>
            <a:off x="1218177" y="2429669"/>
            <a:ext cx="4608100" cy="314920"/>
          </a:xfrm>
          <a:prstGeom prst="rect">
            <a:avLst/>
          </a:prstGeom>
          <a:noFill/>
          <a:ln/>
        </p:spPr>
        <p:txBody>
          <a:bodyPr wrap="square" lIns="0" tIns="0" rIns="0" bIns="0" rtlCol="0" anchor="t">
            <a:normAutofit/>
          </a:bodyPr>
          <a:lstStyle/>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HTML5 &amp; CSS3:</a:t>
            </a:r>
            <a:r>
              <a:rPr lang="en-US" sz="900" dirty="0">
                <a:solidFill>
                  <a:schemeClr val="bg1"/>
                </a:solidFill>
                <a:latin typeface="Roboto" pitchFamily="34" charset="0"/>
                <a:ea typeface="Roboto" pitchFamily="34" charset="-122"/>
                <a:cs typeface="Roboto" pitchFamily="34" charset="-120"/>
              </a:rPr>
              <a:t> Responsive dashboard layout and styling for cross-device compatibility.</a:t>
            </a:r>
            <a:endParaRPr lang="en-US" sz="900" dirty="0">
              <a:solidFill>
                <a:schemeClr val="bg1"/>
              </a:solidFill>
            </a:endParaRPr>
          </a:p>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JavaScript:</a:t>
            </a:r>
            <a:r>
              <a:rPr lang="en-US" sz="900" dirty="0">
                <a:solidFill>
                  <a:schemeClr val="bg1"/>
                </a:solidFill>
                <a:latin typeface="Roboto" pitchFamily="34" charset="0"/>
                <a:ea typeface="Roboto" pitchFamily="34" charset="-122"/>
                <a:cs typeface="Roboto" pitchFamily="34" charset="-120"/>
              </a:rPr>
              <a:t> Dynamic real-time data rendering and live chart updates without page refresh.</a:t>
            </a:r>
            <a:endParaRPr lang="en-US" sz="900" dirty="0">
              <a:solidFill>
                <a:schemeClr val="bg1"/>
              </a:solidFill>
            </a:endParaRP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2953941"/>
            <a:ext cx="5293188" cy="990997"/>
          </a:xfrm>
          <a:prstGeom prst="rect">
            <a:avLst/>
          </a:prstGeom>
        </p:spPr>
      </p:pic>
      <p:sp>
        <p:nvSpPr>
          <p:cNvPr id="8" name="Text 4"/>
          <p:cNvSpPr/>
          <p:nvPr/>
        </p:nvSpPr>
        <p:spPr>
          <a:xfrm>
            <a:off x="1218177" y="3082330"/>
            <a:ext cx="4608100" cy="180876"/>
          </a:xfrm>
          <a:prstGeom prst="rect">
            <a:avLst/>
          </a:prstGeom>
          <a:noFill/>
          <a:ln/>
        </p:spPr>
        <p:txBody>
          <a:bodyPr wrap="none" lIns="0" tIns="0" rIns="0" bIns="0" rtlCol="0" anchor="t"/>
          <a:lstStyle/>
          <a:p>
            <a:pPr marL="0" indent="0" algn="l">
              <a:lnSpc>
                <a:spcPct val="104000"/>
              </a:lnSpc>
              <a:buNone/>
            </a:pPr>
            <a:r>
              <a:rPr lang="en-US" sz="1100" dirty="0">
                <a:solidFill>
                  <a:schemeClr val="bg1"/>
                </a:solidFill>
                <a:latin typeface="Raleway" pitchFamily="34" charset="0"/>
                <a:ea typeface="Raleway" pitchFamily="34" charset="-122"/>
                <a:cs typeface="Raleway" pitchFamily="34" charset="-120"/>
              </a:rPr>
              <a:t>Backend</a:t>
            </a:r>
            <a:endParaRPr lang="en-US" sz="1100" dirty="0">
              <a:solidFill>
                <a:schemeClr val="bg1"/>
              </a:solidFill>
            </a:endParaRPr>
          </a:p>
        </p:txBody>
      </p:sp>
      <p:sp>
        <p:nvSpPr>
          <p:cNvPr id="9" name="Text 5"/>
          <p:cNvSpPr/>
          <p:nvPr/>
        </p:nvSpPr>
        <p:spPr>
          <a:xfrm>
            <a:off x="1218177" y="3344168"/>
            <a:ext cx="4608100" cy="472380"/>
          </a:xfrm>
          <a:prstGeom prst="rect">
            <a:avLst/>
          </a:prstGeom>
          <a:noFill/>
          <a:ln/>
        </p:spPr>
        <p:txBody>
          <a:bodyPr wrap="square" lIns="0" tIns="0" rIns="0" bIns="0" rtlCol="0" anchor="t">
            <a:normAutofit/>
          </a:bodyPr>
          <a:lstStyle/>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Python:</a:t>
            </a:r>
            <a:r>
              <a:rPr lang="en-US" sz="900" dirty="0">
                <a:solidFill>
                  <a:schemeClr val="bg1"/>
                </a:solidFill>
                <a:latin typeface="Roboto" pitchFamily="34" charset="0"/>
                <a:ea typeface="Roboto" pitchFamily="34" charset="-122"/>
                <a:cs typeface="Roboto" pitchFamily="34" charset="-120"/>
              </a:rPr>
              <a:t> Core programming language for all server-side logic and data processing.</a:t>
            </a:r>
            <a:endParaRPr lang="en-US" sz="900" dirty="0">
              <a:solidFill>
                <a:schemeClr val="bg1"/>
              </a:solidFill>
            </a:endParaRPr>
          </a:p>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Django:</a:t>
            </a:r>
            <a:r>
              <a:rPr lang="en-US" sz="900" dirty="0">
                <a:solidFill>
                  <a:schemeClr val="bg1"/>
                </a:solidFill>
                <a:latin typeface="Roboto" pitchFamily="34" charset="0"/>
                <a:ea typeface="Roboto" pitchFamily="34" charset="-122"/>
                <a:cs typeface="Roboto" pitchFamily="34" charset="-120"/>
              </a:rPr>
              <a:t> High-level web framework handling REST API endpoints, ORM queries, and the admin interface.</a:t>
            </a:r>
            <a:endParaRPr lang="en-US" sz="900" dirty="0">
              <a:solidFill>
                <a:schemeClr val="bg1"/>
              </a:solidFill>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4025900"/>
            <a:ext cx="5293188" cy="833537"/>
          </a:xfrm>
          <a:prstGeom prst="rect">
            <a:avLst/>
          </a:prstGeom>
        </p:spPr>
      </p:pic>
      <p:sp>
        <p:nvSpPr>
          <p:cNvPr id="11" name="Text 6"/>
          <p:cNvSpPr/>
          <p:nvPr/>
        </p:nvSpPr>
        <p:spPr>
          <a:xfrm>
            <a:off x="1218177" y="4154289"/>
            <a:ext cx="4608100" cy="180876"/>
          </a:xfrm>
          <a:prstGeom prst="rect">
            <a:avLst/>
          </a:prstGeom>
          <a:noFill/>
          <a:ln/>
        </p:spPr>
        <p:txBody>
          <a:bodyPr wrap="none" lIns="0" tIns="0" rIns="0" bIns="0" rtlCol="0" anchor="t"/>
          <a:lstStyle/>
          <a:p>
            <a:pPr marL="0" indent="0" algn="l">
              <a:lnSpc>
                <a:spcPct val="104000"/>
              </a:lnSpc>
              <a:buNone/>
            </a:pPr>
            <a:r>
              <a:rPr lang="en-US" sz="1100" dirty="0">
                <a:solidFill>
                  <a:schemeClr val="bg1"/>
                </a:solidFill>
                <a:latin typeface="Raleway" pitchFamily="34" charset="0"/>
                <a:ea typeface="Raleway" pitchFamily="34" charset="-122"/>
                <a:cs typeface="Raleway" pitchFamily="34" charset="-120"/>
              </a:rPr>
              <a:t>Database</a:t>
            </a:r>
            <a:endParaRPr lang="en-US" sz="1100" dirty="0">
              <a:solidFill>
                <a:schemeClr val="bg1"/>
              </a:solidFill>
            </a:endParaRPr>
          </a:p>
        </p:txBody>
      </p:sp>
      <p:sp>
        <p:nvSpPr>
          <p:cNvPr id="12" name="Text 7"/>
          <p:cNvSpPr/>
          <p:nvPr/>
        </p:nvSpPr>
        <p:spPr>
          <a:xfrm>
            <a:off x="1218177" y="4416127"/>
            <a:ext cx="4608100" cy="314920"/>
          </a:xfrm>
          <a:prstGeom prst="rect">
            <a:avLst/>
          </a:prstGeom>
          <a:noFill/>
          <a:ln/>
        </p:spPr>
        <p:txBody>
          <a:bodyPr wrap="square" lIns="0" tIns="0" rIns="0" bIns="0" rtlCol="0" anchor="t">
            <a:normAutofit/>
          </a:bodyPr>
          <a:lstStyle/>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MySQL:</a:t>
            </a:r>
            <a:r>
              <a:rPr lang="en-US" sz="900" dirty="0">
                <a:solidFill>
                  <a:schemeClr val="bg1"/>
                </a:solidFill>
                <a:latin typeface="Roboto" pitchFamily="34" charset="0"/>
                <a:ea typeface="Roboto" pitchFamily="34" charset="-122"/>
                <a:cs typeface="Roboto" pitchFamily="34" charset="-120"/>
              </a:rPr>
              <a:t> Relational database storing all sensor readings, appliance states, and full historical logs for analytics.</a:t>
            </a:r>
            <a:endParaRPr lang="en-US" sz="900" dirty="0">
              <a:solidFill>
                <a:schemeClr val="bg1"/>
              </a:solidFill>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3382" y="2039441"/>
            <a:ext cx="5293188" cy="833537"/>
          </a:xfrm>
          <a:prstGeom prst="rect">
            <a:avLst/>
          </a:prstGeom>
        </p:spPr>
      </p:pic>
      <p:sp>
        <p:nvSpPr>
          <p:cNvPr id="14" name="Text 8"/>
          <p:cNvSpPr/>
          <p:nvPr/>
        </p:nvSpPr>
        <p:spPr>
          <a:xfrm>
            <a:off x="6800085" y="2167830"/>
            <a:ext cx="4608100" cy="180876"/>
          </a:xfrm>
          <a:prstGeom prst="rect">
            <a:avLst/>
          </a:prstGeom>
          <a:noFill/>
          <a:ln/>
        </p:spPr>
        <p:txBody>
          <a:bodyPr wrap="none" lIns="0" tIns="0" rIns="0" bIns="0" rtlCol="0" anchor="t"/>
          <a:lstStyle/>
          <a:p>
            <a:pPr marL="0" indent="0" algn="l">
              <a:lnSpc>
                <a:spcPct val="104000"/>
              </a:lnSpc>
              <a:buNone/>
            </a:pPr>
            <a:r>
              <a:rPr lang="en-US" sz="1100" dirty="0">
                <a:solidFill>
                  <a:schemeClr val="bg1"/>
                </a:solidFill>
                <a:latin typeface="Raleway" pitchFamily="34" charset="0"/>
                <a:ea typeface="Raleway" pitchFamily="34" charset="-122"/>
                <a:cs typeface="Raleway" pitchFamily="34" charset="-120"/>
              </a:rPr>
              <a:t>Cloud Deployment</a:t>
            </a:r>
            <a:endParaRPr lang="en-US" sz="1100" dirty="0">
              <a:solidFill>
                <a:schemeClr val="bg1"/>
              </a:solidFill>
            </a:endParaRPr>
          </a:p>
        </p:txBody>
      </p:sp>
      <p:sp>
        <p:nvSpPr>
          <p:cNvPr id="15" name="Text 9"/>
          <p:cNvSpPr/>
          <p:nvPr/>
        </p:nvSpPr>
        <p:spPr>
          <a:xfrm>
            <a:off x="6800085" y="2429669"/>
            <a:ext cx="4608100" cy="314920"/>
          </a:xfrm>
          <a:prstGeom prst="rect">
            <a:avLst/>
          </a:prstGeom>
          <a:noFill/>
          <a:ln/>
        </p:spPr>
        <p:txBody>
          <a:bodyPr wrap="square" lIns="0" tIns="0" rIns="0" bIns="0" rtlCol="0" anchor="t">
            <a:normAutofit/>
          </a:bodyPr>
          <a:lstStyle/>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Render / AWS:</a:t>
            </a:r>
            <a:r>
              <a:rPr lang="en-US" sz="900" dirty="0">
                <a:solidFill>
                  <a:schemeClr val="bg1"/>
                </a:solidFill>
                <a:latin typeface="Roboto" pitchFamily="34" charset="0"/>
                <a:ea typeface="Roboto" pitchFamily="34" charset="-122"/>
                <a:cs typeface="Roboto" pitchFamily="34" charset="-120"/>
              </a:rPr>
              <a:t> Cloud hosting for the Django application, ensuring remote accessibility, uptime, and horizontal scalability for multi-campus use.</a:t>
            </a:r>
            <a:endParaRPr lang="en-US" sz="900" dirty="0">
              <a:solidFill>
                <a:schemeClr val="bg1"/>
              </a:solidFill>
            </a:endParaRPr>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3382" y="2953941"/>
            <a:ext cx="5293188" cy="833537"/>
          </a:xfrm>
          <a:prstGeom prst="rect">
            <a:avLst/>
          </a:prstGeom>
        </p:spPr>
      </p:pic>
      <p:sp>
        <p:nvSpPr>
          <p:cNvPr id="17" name="Text 10"/>
          <p:cNvSpPr/>
          <p:nvPr/>
        </p:nvSpPr>
        <p:spPr>
          <a:xfrm>
            <a:off x="6800085" y="3082330"/>
            <a:ext cx="4608100" cy="180876"/>
          </a:xfrm>
          <a:prstGeom prst="rect">
            <a:avLst/>
          </a:prstGeom>
          <a:noFill/>
          <a:ln/>
        </p:spPr>
        <p:txBody>
          <a:bodyPr wrap="none" lIns="0" tIns="0" rIns="0" bIns="0" rtlCol="0" anchor="t"/>
          <a:lstStyle/>
          <a:p>
            <a:pPr marL="0" indent="0" algn="l">
              <a:lnSpc>
                <a:spcPct val="104000"/>
              </a:lnSpc>
              <a:buNone/>
            </a:pPr>
            <a:r>
              <a:rPr lang="en-US" sz="1100" dirty="0">
                <a:solidFill>
                  <a:schemeClr val="bg1"/>
                </a:solidFill>
                <a:latin typeface="Raleway" pitchFamily="34" charset="0"/>
                <a:ea typeface="Raleway" pitchFamily="34" charset="-122"/>
                <a:cs typeface="Raleway" pitchFamily="34" charset="-120"/>
              </a:rPr>
              <a:t>Communication Protocol</a:t>
            </a:r>
            <a:endParaRPr lang="en-US" sz="1100" dirty="0">
              <a:solidFill>
                <a:schemeClr val="bg1"/>
              </a:solidFill>
            </a:endParaRPr>
          </a:p>
        </p:txBody>
      </p:sp>
      <p:sp>
        <p:nvSpPr>
          <p:cNvPr id="18" name="Text 11"/>
          <p:cNvSpPr/>
          <p:nvPr/>
        </p:nvSpPr>
        <p:spPr>
          <a:xfrm>
            <a:off x="6800085" y="3344168"/>
            <a:ext cx="4608100" cy="314920"/>
          </a:xfrm>
          <a:prstGeom prst="rect">
            <a:avLst/>
          </a:prstGeom>
          <a:noFill/>
          <a:ln/>
        </p:spPr>
        <p:txBody>
          <a:bodyPr wrap="square" lIns="0" tIns="0" rIns="0" bIns="0" rtlCol="0" anchor="t">
            <a:normAutofit/>
          </a:bodyPr>
          <a:lstStyle/>
          <a:p>
            <a:pPr marL="0" indent="0" algn="l">
              <a:lnSpc>
                <a:spcPct val="113000"/>
              </a:lnSpc>
              <a:buNone/>
            </a:pPr>
            <a:r>
              <a:rPr lang="en-US" sz="900" b="1" dirty="0">
                <a:solidFill>
                  <a:schemeClr val="bg1"/>
                </a:solidFill>
                <a:latin typeface="Roboto Bold" pitchFamily="34" charset="0"/>
                <a:ea typeface="Roboto Bold" pitchFamily="34" charset="-122"/>
                <a:cs typeface="Roboto Bold" pitchFamily="34" charset="-120"/>
              </a:rPr>
              <a:t>HTTP REST:</a:t>
            </a:r>
            <a:r>
              <a:rPr lang="en-US" sz="900" dirty="0">
                <a:solidFill>
                  <a:schemeClr val="bg1"/>
                </a:solidFill>
                <a:latin typeface="Roboto" pitchFamily="34" charset="0"/>
                <a:ea typeface="Roboto" pitchFamily="34" charset="-122"/>
                <a:cs typeface="Roboto" pitchFamily="34" charset="-120"/>
              </a:rPr>
              <a:t> ESP32 sends POST requests to Django API endpoints at defined polling intervals, transmitting all sensor payloads as JSON.</a:t>
            </a:r>
            <a:endParaRPr lang="en-US" sz="900" dirty="0">
              <a:solidFill>
                <a:schemeClr val="bg1"/>
              </a:solidFill>
            </a:endParaRPr>
          </a:p>
        </p:txBody>
      </p:sp>
      <p:sp>
        <p:nvSpPr>
          <p:cNvPr id="19" name="Text 12"/>
          <p:cNvSpPr/>
          <p:nvPr/>
        </p:nvSpPr>
        <p:spPr>
          <a:xfrm>
            <a:off x="6243382" y="3878560"/>
            <a:ext cx="5293188" cy="180876"/>
          </a:xfrm>
          <a:prstGeom prst="rect">
            <a:avLst/>
          </a:prstGeom>
          <a:noFill/>
          <a:ln/>
        </p:spPr>
        <p:txBody>
          <a:bodyPr wrap="none" lIns="0" tIns="0" rIns="0" bIns="0" rtlCol="0" anchor="t"/>
          <a:lstStyle/>
          <a:p>
            <a:pPr marL="0" indent="0" algn="l">
              <a:lnSpc>
                <a:spcPct val="104000"/>
              </a:lnSpc>
              <a:buNone/>
            </a:pPr>
            <a:r>
              <a:rPr lang="en-US" sz="1100" dirty="0">
                <a:solidFill>
                  <a:srgbClr val="1B1B27"/>
                </a:solidFill>
                <a:latin typeface="Raleway" pitchFamily="34" charset="0"/>
                <a:ea typeface="Raleway" pitchFamily="34" charset="-122"/>
                <a:cs typeface="Raleway" pitchFamily="34" charset="-120"/>
              </a:rPr>
              <a:t>Data Pipeline</a:t>
            </a:r>
            <a:endParaRPr lang="en-US" sz="1100" dirty="0"/>
          </a:p>
        </p:txBody>
      </p:sp>
      <p:pic>
        <p:nvPicPr>
          <p:cNvPr id="20" name="Image 5" descr="preencoded.png"/>
          <p:cNvPicPr>
            <a:picLocks noChangeAspect="1"/>
          </p:cNvPicPr>
          <p:nvPr/>
        </p:nvPicPr>
        <p:blipFill>
          <a:blip r:embed="rId7"/>
          <a:stretch>
            <a:fillRect/>
          </a:stretch>
        </p:blipFill>
        <p:spPr>
          <a:xfrm>
            <a:off x="7037311" y="4150519"/>
            <a:ext cx="3705232" cy="1597819"/>
          </a:xfrm>
          <a:prstGeom prst="rect">
            <a:avLst/>
          </a:prstGeom>
        </p:spPr>
      </p:pic>
      <p:sp>
        <p:nvSpPr>
          <p:cNvPr id="21" name="Text 13"/>
          <p:cNvSpPr/>
          <p:nvPr/>
        </p:nvSpPr>
        <p:spPr>
          <a:xfrm>
            <a:off x="7286636" y="5445331"/>
            <a:ext cx="840591" cy="105077"/>
          </a:xfrm>
          <a:prstGeom prst="rect">
            <a:avLst/>
          </a:prstGeom>
          <a:noFill/>
          <a:ln/>
        </p:spPr>
        <p:txBody>
          <a:bodyPr wrap="none" lIns="0" tIns="0" rIns="0" bIns="0" rtlCol="0" anchor="t"/>
          <a:lstStyle/>
          <a:p>
            <a:pPr marL="0" indent="0" algn="l">
              <a:lnSpc>
                <a:spcPct val="104000"/>
              </a:lnSpc>
              <a:buNone/>
            </a:pPr>
            <a:r>
              <a:rPr lang="en-US" sz="650" dirty="0">
                <a:solidFill>
                  <a:srgbClr val="FFFFFF"/>
                </a:solidFill>
                <a:latin typeface="Raleway" pitchFamily="34" charset="0"/>
                <a:ea typeface="Raleway" pitchFamily="34" charset="-122"/>
                <a:cs typeface="Raleway" pitchFamily="34" charset="-120"/>
              </a:rPr>
              <a:t>Live Dashboard</a:t>
            </a:r>
            <a:endParaRPr lang="en-US" sz="650" dirty="0"/>
          </a:p>
        </p:txBody>
      </p:sp>
      <p:sp>
        <p:nvSpPr>
          <p:cNvPr id="22" name="Text 14"/>
          <p:cNvSpPr/>
          <p:nvPr/>
        </p:nvSpPr>
        <p:spPr>
          <a:xfrm>
            <a:off x="7286636" y="5075462"/>
            <a:ext cx="840591" cy="105077"/>
          </a:xfrm>
          <a:prstGeom prst="rect">
            <a:avLst/>
          </a:prstGeom>
          <a:noFill/>
          <a:ln/>
        </p:spPr>
        <p:txBody>
          <a:bodyPr wrap="none" lIns="0" tIns="0" rIns="0" bIns="0" rtlCol="0" anchor="t"/>
          <a:lstStyle/>
          <a:p>
            <a:pPr marL="0" indent="0" algn="l">
              <a:lnSpc>
                <a:spcPct val="104000"/>
              </a:lnSpc>
              <a:buNone/>
            </a:pPr>
            <a:r>
              <a:rPr lang="en-US" sz="650" dirty="0">
                <a:solidFill>
                  <a:srgbClr val="FFFFFF"/>
                </a:solidFill>
                <a:latin typeface="Raleway" pitchFamily="34" charset="0"/>
                <a:ea typeface="Raleway" pitchFamily="34" charset="-122"/>
                <a:cs typeface="Raleway" pitchFamily="34" charset="-120"/>
              </a:rPr>
              <a:t>MySQL Store</a:t>
            </a:r>
            <a:endParaRPr lang="en-US" sz="650" dirty="0"/>
          </a:p>
        </p:txBody>
      </p:sp>
      <p:sp>
        <p:nvSpPr>
          <p:cNvPr id="23" name="Text 15"/>
          <p:cNvSpPr/>
          <p:nvPr/>
        </p:nvSpPr>
        <p:spPr>
          <a:xfrm>
            <a:off x="7286636" y="4709329"/>
            <a:ext cx="840591" cy="105077"/>
          </a:xfrm>
          <a:prstGeom prst="rect">
            <a:avLst/>
          </a:prstGeom>
          <a:noFill/>
          <a:ln/>
        </p:spPr>
        <p:txBody>
          <a:bodyPr wrap="none" lIns="0" tIns="0" rIns="0" bIns="0" rtlCol="0" anchor="t"/>
          <a:lstStyle/>
          <a:p>
            <a:pPr marL="0" indent="0" algn="l">
              <a:lnSpc>
                <a:spcPct val="104000"/>
              </a:lnSpc>
              <a:buNone/>
            </a:pPr>
            <a:r>
              <a:rPr lang="en-US" sz="650" dirty="0">
                <a:solidFill>
                  <a:srgbClr val="FFFFFF"/>
                </a:solidFill>
                <a:latin typeface="Raleway" pitchFamily="34" charset="0"/>
                <a:ea typeface="Raleway" pitchFamily="34" charset="-122"/>
                <a:cs typeface="Raleway" pitchFamily="34" charset="-120"/>
              </a:rPr>
              <a:t>Django API</a:t>
            </a:r>
            <a:endParaRPr lang="en-US" sz="650" dirty="0"/>
          </a:p>
        </p:txBody>
      </p:sp>
      <p:sp>
        <p:nvSpPr>
          <p:cNvPr id="24" name="Text 16"/>
          <p:cNvSpPr/>
          <p:nvPr/>
        </p:nvSpPr>
        <p:spPr>
          <a:xfrm>
            <a:off x="7286636" y="4339460"/>
            <a:ext cx="840591" cy="105077"/>
          </a:xfrm>
          <a:prstGeom prst="rect">
            <a:avLst/>
          </a:prstGeom>
          <a:noFill/>
          <a:ln/>
        </p:spPr>
        <p:txBody>
          <a:bodyPr wrap="none" lIns="0" tIns="0" rIns="0" bIns="0" rtlCol="0" anchor="t"/>
          <a:lstStyle/>
          <a:p>
            <a:pPr marL="0" indent="0" algn="l">
              <a:lnSpc>
                <a:spcPct val="104000"/>
              </a:lnSpc>
              <a:buNone/>
            </a:pPr>
            <a:r>
              <a:rPr lang="en-US" sz="650" dirty="0">
                <a:solidFill>
                  <a:srgbClr val="FFFFFF"/>
                </a:solidFill>
                <a:latin typeface="Raleway" pitchFamily="34" charset="0"/>
                <a:ea typeface="Raleway" pitchFamily="34" charset="-122"/>
                <a:cs typeface="Raleway" pitchFamily="34" charset="-120"/>
              </a:rPr>
              <a:t>ESP32 POST</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54819"/>
            <a:ext cx="10868745" cy="167878"/>
          </a:xfrm>
          <a:prstGeom prst="rect">
            <a:avLst/>
          </a:prstGeom>
          <a:noFill/>
          <a:ln/>
        </p:spPr>
        <p:txBody>
          <a:bodyPr wrap="none" lIns="0" tIns="0" rIns="0" bIns="0" rtlCol="0" anchor="t"/>
          <a:lstStyle/>
          <a:p>
            <a:pPr marL="0" indent="0" algn="l">
              <a:lnSpc>
                <a:spcPct val="104000"/>
              </a:lnSpc>
              <a:buNone/>
            </a:pPr>
            <a:r>
              <a:rPr lang="en-US" sz="1400" dirty="0">
                <a:solidFill>
                  <a:srgbClr val="1B1B27"/>
                </a:solidFill>
                <a:latin typeface="Raleway" pitchFamily="34" charset="0"/>
                <a:ea typeface="Raleway" pitchFamily="34" charset="-122"/>
                <a:cs typeface="Raleway" pitchFamily="34" charset="-120"/>
              </a:rPr>
              <a:t>  System Architecture</a:t>
            </a:r>
            <a:endParaRPr lang="en-US" sz="1400" dirty="0"/>
          </a:p>
        </p:txBody>
      </p:sp>
      <p:sp>
        <p:nvSpPr>
          <p:cNvPr id="3" name="Text 1"/>
          <p:cNvSpPr/>
          <p:nvPr/>
        </p:nvSpPr>
        <p:spPr>
          <a:xfrm>
            <a:off x="730133" y="700829"/>
            <a:ext cx="11478330" cy="56952"/>
          </a:xfrm>
          <a:prstGeom prst="rect">
            <a:avLst/>
          </a:prstGeom>
          <a:noFill/>
          <a:ln/>
        </p:spPr>
        <p:txBody>
          <a:bodyPr wrap="none" lIns="0" tIns="0" rIns="0" bIns="0" rtlCol="0" anchor="t"/>
          <a:lstStyle/>
          <a:p>
            <a:pPr marL="0" indent="0" algn="l">
              <a:lnSpc>
                <a:spcPct val="88000"/>
              </a:lnSpc>
              <a:buNone/>
            </a:pPr>
            <a:r>
              <a:rPr lang="en-US" sz="1200" dirty="0">
                <a:solidFill>
                  <a:srgbClr val="3C3939"/>
                </a:solidFill>
                <a:latin typeface="Roboto" pitchFamily="34" charset="0"/>
                <a:ea typeface="Roboto" pitchFamily="34" charset="-122"/>
                <a:cs typeface="Roboto" pitchFamily="34" charset="-120"/>
              </a:rPr>
              <a:t>The </a:t>
            </a:r>
            <a:r>
              <a:rPr lang="en-US" sz="1200" dirty="0" err="1">
                <a:solidFill>
                  <a:srgbClr val="3C3939"/>
                </a:solidFill>
                <a:latin typeface="Roboto" pitchFamily="34" charset="0"/>
                <a:ea typeface="Roboto" pitchFamily="34" charset="-122"/>
                <a:cs typeface="Roboto" pitchFamily="34" charset="-120"/>
              </a:rPr>
              <a:t>CampusPulse</a:t>
            </a:r>
            <a:r>
              <a:rPr lang="en-US" sz="1200" dirty="0">
                <a:solidFill>
                  <a:srgbClr val="3C3939"/>
                </a:solidFill>
                <a:latin typeface="Roboto" pitchFamily="34" charset="0"/>
                <a:ea typeface="Roboto" pitchFamily="34" charset="-122"/>
                <a:cs typeface="Roboto" pitchFamily="34" charset="-120"/>
              </a:rPr>
              <a:t> architecture follows a layered IoT pipeline — from physical sensing through edge processing, wireless transmission, </a:t>
            </a:r>
          </a:p>
          <a:p>
            <a:pPr marL="0" indent="0" algn="l">
              <a:lnSpc>
                <a:spcPct val="88000"/>
              </a:lnSpc>
              <a:buNone/>
            </a:pPr>
            <a:r>
              <a:rPr lang="en-US" sz="1200" dirty="0">
                <a:solidFill>
                  <a:srgbClr val="3C3939"/>
                </a:solidFill>
                <a:latin typeface="Roboto" pitchFamily="34" charset="0"/>
                <a:ea typeface="Roboto" pitchFamily="34" charset="-122"/>
                <a:cs typeface="Roboto" pitchFamily="34" charset="-120"/>
              </a:rPr>
              <a:t>cloud-based backend, and real-time dashboard visualization to automated appliance control.</a:t>
            </a:r>
            <a:endParaRPr lang="en-US" sz="1200" dirty="0"/>
          </a:p>
        </p:txBody>
      </p:sp>
      <p:sp>
        <p:nvSpPr>
          <p:cNvPr id="4" name="Shape 2"/>
          <p:cNvSpPr/>
          <p:nvPr/>
        </p:nvSpPr>
        <p:spPr>
          <a:xfrm>
            <a:off x="527422" y="1389910"/>
            <a:ext cx="3798359" cy="4726949"/>
          </a:xfrm>
          <a:prstGeom prst="roundRect">
            <a:avLst>
              <a:gd name="adj" fmla="val 938"/>
            </a:avLst>
          </a:prstGeom>
          <a:solidFill>
            <a:srgbClr val="1B1B27">
              <a:alpha val="95000"/>
            </a:srgbClr>
          </a:solidFill>
          <a:ln/>
        </p:spPr>
        <p:txBody>
          <a:bodyPr/>
          <a:lstStyle/>
          <a:p>
            <a:endParaRPr lang="en-IN" sz="1200" dirty="0"/>
          </a:p>
        </p:txBody>
      </p:sp>
      <p:sp>
        <p:nvSpPr>
          <p:cNvPr id="5" name="Text 3"/>
          <p:cNvSpPr/>
          <p:nvPr/>
        </p:nvSpPr>
        <p:spPr>
          <a:xfrm>
            <a:off x="676457" y="751681"/>
            <a:ext cx="4018953" cy="83939"/>
          </a:xfrm>
          <a:prstGeom prst="rect">
            <a:avLst/>
          </a:prstGeom>
          <a:noFill/>
          <a:ln/>
        </p:spPr>
        <p:txBody>
          <a:bodyPr wrap="none" lIns="0" tIns="0" rIns="0" bIns="0" rtlCol="0" anchor="t"/>
          <a:lstStyle/>
          <a:p>
            <a:pPr marL="0" indent="0" algn="l">
              <a:lnSpc>
                <a:spcPct val="104000"/>
              </a:lnSpc>
              <a:buNone/>
            </a:pPr>
            <a:endParaRPr lang="en-US" sz="120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457" y="862013"/>
            <a:ext cx="53676" cy="53677"/>
          </a:xfrm>
          <a:prstGeom prst="rect">
            <a:avLst/>
          </a:prstGeom>
        </p:spPr>
      </p:pic>
      <p:sp>
        <p:nvSpPr>
          <p:cNvPr id="8" name="Text 5"/>
          <p:cNvSpPr/>
          <p:nvPr/>
        </p:nvSpPr>
        <p:spPr>
          <a:xfrm>
            <a:off x="577835" y="1444953"/>
            <a:ext cx="4018953" cy="8393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aleway" pitchFamily="34" charset="0"/>
                <a:ea typeface="Raleway" pitchFamily="34" charset="-122"/>
                <a:cs typeface="Raleway" pitchFamily="34" charset="-120"/>
              </a:rPr>
              <a:t>Sensing Layer</a:t>
            </a:r>
            <a:endParaRPr lang="en-US" sz="1200" dirty="0"/>
          </a:p>
        </p:txBody>
      </p:sp>
      <p:sp>
        <p:nvSpPr>
          <p:cNvPr id="9" name="Text 6"/>
          <p:cNvSpPr/>
          <p:nvPr/>
        </p:nvSpPr>
        <p:spPr>
          <a:xfrm>
            <a:off x="577835" y="1715518"/>
            <a:ext cx="4018953" cy="56952"/>
          </a:xfrm>
          <a:prstGeom prst="rect">
            <a:avLst/>
          </a:prstGeom>
          <a:noFill/>
          <a:ln/>
        </p:spPr>
        <p:txBody>
          <a:bodyPr wrap="none" lIns="0" tIns="0" rIns="0" bIns="0" rtlCol="0" anchor="t"/>
          <a:lstStyle/>
          <a:p>
            <a:pPr marL="0" indent="0" algn="l">
              <a:lnSpc>
                <a:spcPct val="88000"/>
              </a:lnSpc>
              <a:buNone/>
            </a:pPr>
            <a:r>
              <a:rPr lang="en-US" sz="1200" dirty="0">
                <a:solidFill>
                  <a:srgbClr val="FFFFFF"/>
                </a:solidFill>
                <a:latin typeface="Roboto" pitchFamily="34" charset="0"/>
                <a:ea typeface="Roboto" pitchFamily="34" charset="-122"/>
                <a:cs typeface="Roboto" pitchFamily="34" charset="-120"/>
              </a:rPr>
              <a:t>PIR Sensor · DHT22 · BH1750</a:t>
            </a:r>
            <a:endParaRPr lang="en-US" sz="1200" dirty="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6457" y="1202531"/>
            <a:ext cx="53676" cy="53677"/>
          </a:xfrm>
          <a:prstGeom prst="rect">
            <a:avLst/>
          </a:prstGeom>
        </p:spPr>
      </p:pic>
      <p:sp>
        <p:nvSpPr>
          <p:cNvPr id="12" name="Text 8"/>
          <p:cNvSpPr/>
          <p:nvPr/>
        </p:nvSpPr>
        <p:spPr>
          <a:xfrm>
            <a:off x="577835" y="1903702"/>
            <a:ext cx="4018953" cy="8393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aleway" pitchFamily="34" charset="0"/>
                <a:ea typeface="Raleway" pitchFamily="34" charset="-122"/>
                <a:cs typeface="Raleway" pitchFamily="34" charset="-120"/>
              </a:rPr>
              <a:t>Edge Processing</a:t>
            </a:r>
            <a:endParaRPr lang="en-US" sz="1200" dirty="0"/>
          </a:p>
        </p:txBody>
      </p:sp>
      <p:sp>
        <p:nvSpPr>
          <p:cNvPr id="13" name="Text 9"/>
          <p:cNvSpPr/>
          <p:nvPr/>
        </p:nvSpPr>
        <p:spPr>
          <a:xfrm>
            <a:off x="577835" y="2183486"/>
            <a:ext cx="4018953" cy="56952"/>
          </a:xfrm>
          <a:prstGeom prst="rect">
            <a:avLst/>
          </a:prstGeom>
          <a:noFill/>
          <a:ln/>
        </p:spPr>
        <p:txBody>
          <a:bodyPr wrap="none" lIns="0" tIns="0" rIns="0" bIns="0" rtlCol="0" anchor="t"/>
          <a:lstStyle/>
          <a:p>
            <a:pPr marL="0" indent="0" algn="l">
              <a:lnSpc>
                <a:spcPct val="88000"/>
              </a:lnSpc>
              <a:buNone/>
            </a:pPr>
            <a:r>
              <a:rPr lang="en-US" sz="1200" dirty="0">
                <a:solidFill>
                  <a:srgbClr val="FFFFFF"/>
                </a:solidFill>
                <a:latin typeface="Roboto" pitchFamily="34" charset="0"/>
                <a:ea typeface="Roboto" pitchFamily="34" charset="-122"/>
                <a:cs typeface="Roboto" pitchFamily="34" charset="-120"/>
              </a:rPr>
              <a:t>ESP32 Microcontroller</a:t>
            </a:r>
            <a:endParaRPr lang="en-US" sz="1200" dirty="0"/>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6457" y="1543050"/>
            <a:ext cx="53676" cy="53677"/>
          </a:xfrm>
          <a:prstGeom prst="rect">
            <a:avLst/>
          </a:prstGeom>
        </p:spPr>
      </p:pic>
      <p:sp>
        <p:nvSpPr>
          <p:cNvPr id="16" name="Text 11"/>
          <p:cNvSpPr/>
          <p:nvPr/>
        </p:nvSpPr>
        <p:spPr>
          <a:xfrm>
            <a:off x="577828" y="2389241"/>
            <a:ext cx="4018953" cy="8393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aleway" pitchFamily="34" charset="0"/>
                <a:ea typeface="Raleway" pitchFamily="34" charset="-122"/>
                <a:cs typeface="Raleway" pitchFamily="34" charset="-120"/>
              </a:rPr>
              <a:t>Transmission Layer</a:t>
            </a:r>
            <a:endParaRPr lang="en-US" sz="1200" dirty="0"/>
          </a:p>
        </p:txBody>
      </p:sp>
      <p:sp>
        <p:nvSpPr>
          <p:cNvPr id="17" name="Text 12"/>
          <p:cNvSpPr/>
          <p:nvPr/>
        </p:nvSpPr>
        <p:spPr>
          <a:xfrm>
            <a:off x="577835" y="2618938"/>
            <a:ext cx="4018953" cy="56952"/>
          </a:xfrm>
          <a:prstGeom prst="rect">
            <a:avLst/>
          </a:prstGeom>
          <a:noFill/>
          <a:ln/>
        </p:spPr>
        <p:txBody>
          <a:bodyPr wrap="none" lIns="0" tIns="0" rIns="0" bIns="0" rtlCol="0" anchor="t"/>
          <a:lstStyle/>
          <a:p>
            <a:pPr marL="0" indent="0" algn="l">
              <a:lnSpc>
                <a:spcPct val="88000"/>
              </a:lnSpc>
              <a:buNone/>
            </a:pPr>
            <a:r>
              <a:rPr lang="en-US" sz="1200" dirty="0">
                <a:solidFill>
                  <a:srgbClr val="FFFFFF"/>
                </a:solidFill>
                <a:latin typeface="Roboto" pitchFamily="34" charset="0"/>
                <a:ea typeface="Roboto" pitchFamily="34" charset="-122"/>
                <a:cs typeface="Roboto" pitchFamily="34" charset="-120"/>
              </a:rPr>
              <a:t>Wi-Fi / HTTP REST</a:t>
            </a:r>
            <a:endParaRPr lang="en-US" sz="1200" dirty="0"/>
          </a:p>
        </p:txBody>
      </p:sp>
      <p:sp>
        <p:nvSpPr>
          <p:cNvPr id="20" name="Text 14"/>
          <p:cNvSpPr/>
          <p:nvPr/>
        </p:nvSpPr>
        <p:spPr>
          <a:xfrm>
            <a:off x="577835" y="2785911"/>
            <a:ext cx="4018953" cy="8393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aleway" pitchFamily="34" charset="0"/>
                <a:ea typeface="Raleway" pitchFamily="34" charset="-122"/>
                <a:cs typeface="Raleway" pitchFamily="34" charset="-120"/>
              </a:rPr>
              <a:t>Application Layer</a:t>
            </a:r>
            <a:endParaRPr lang="en-US" sz="1200" dirty="0"/>
          </a:p>
        </p:txBody>
      </p:sp>
      <p:sp>
        <p:nvSpPr>
          <p:cNvPr id="21" name="Text 15"/>
          <p:cNvSpPr/>
          <p:nvPr/>
        </p:nvSpPr>
        <p:spPr>
          <a:xfrm>
            <a:off x="577835" y="3067949"/>
            <a:ext cx="4018953" cy="56952"/>
          </a:xfrm>
          <a:prstGeom prst="rect">
            <a:avLst/>
          </a:prstGeom>
          <a:noFill/>
          <a:ln/>
        </p:spPr>
        <p:txBody>
          <a:bodyPr wrap="none" lIns="0" tIns="0" rIns="0" bIns="0" rtlCol="0" anchor="t"/>
          <a:lstStyle/>
          <a:p>
            <a:pPr marL="0" indent="0" algn="l">
              <a:lnSpc>
                <a:spcPct val="88000"/>
              </a:lnSpc>
              <a:buNone/>
            </a:pPr>
            <a:r>
              <a:rPr lang="en-US" sz="1200" dirty="0">
                <a:solidFill>
                  <a:srgbClr val="FFFFFF"/>
                </a:solidFill>
                <a:latin typeface="Roboto" pitchFamily="34" charset="0"/>
                <a:ea typeface="Roboto" pitchFamily="34" charset="-122"/>
                <a:cs typeface="Roboto" pitchFamily="34" charset="-120"/>
              </a:rPr>
              <a:t>Django Server · MySQL Database</a:t>
            </a:r>
            <a:endParaRPr lang="en-US" sz="1200" dirty="0"/>
          </a:p>
        </p:txBody>
      </p:sp>
      <p:sp>
        <p:nvSpPr>
          <p:cNvPr id="24" name="Text 17"/>
          <p:cNvSpPr/>
          <p:nvPr/>
        </p:nvSpPr>
        <p:spPr>
          <a:xfrm>
            <a:off x="577829" y="3287733"/>
            <a:ext cx="4018953" cy="8393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aleway" pitchFamily="34" charset="0"/>
                <a:ea typeface="Raleway" pitchFamily="34" charset="-122"/>
                <a:cs typeface="Raleway" pitchFamily="34" charset="-120"/>
              </a:rPr>
              <a:t>Presentation Layer</a:t>
            </a:r>
            <a:endParaRPr lang="en-US" sz="1200" dirty="0"/>
          </a:p>
        </p:txBody>
      </p:sp>
      <p:sp>
        <p:nvSpPr>
          <p:cNvPr id="25" name="Text 18"/>
          <p:cNvSpPr/>
          <p:nvPr/>
        </p:nvSpPr>
        <p:spPr>
          <a:xfrm>
            <a:off x="577835" y="3579250"/>
            <a:ext cx="4018953" cy="56952"/>
          </a:xfrm>
          <a:prstGeom prst="rect">
            <a:avLst/>
          </a:prstGeom>
          <a:noFill/>
          <a:ln/>
        </p:spPr>
        <p:txBody>
          <a:bodyPr wrap="none" lIns="0" tIns="0" rIns="0" bIns="0" rtlCol="0" anchor="t"/>
          <a:lstStyle/>
          <a:p>
            <a:pPr marL="0" indent="0" algn="l">
              <a:lnSpc>
                <a:spcPct val="88000"/>
              </a:lnSpc>
              <a:buNone/>
            </a:pPr>
            <a:r>
              <a:rPr lang="en-US" sz="1200" dirty="0">
                <a:solidFill>
                  <a:srgbClr val="FFFFFF"/>
                </a:solidFill>
                <a:latin typeface="Roboto" pitchFamily="34" charset="0"/>
                <a:ea typeface="Roboto" pitchFamily="34" charset="-122"/>
                <a:cs typeface="Roboto" pitchFamily="34" charset="-120"/>
              </a:rPr>
              <a:t>Web Dashboard (Real-Time Analytics)</a:t>
            </a:r>
            <a:endParaRPr lang="en-US" sz="1200" dirty="0"/>
          </a:p>
        </p:txBody>
      </p:sp>
      <p:sp>
        <p:nvSpPr>
          <p:cNvPr id="28" name="Text 20"/>
          <p:cNvSpPr/>
          <p:nvPr/>
        </p:nvSpPr>
        <p:spPr>
          <a:xfrm>
            <a:off x="577830" y="3804253"/>
            <a:ext cx="4018953" cy="8393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aleway" pitchFamily="34" charset="0"/>
                <a:ea typeface="Raleway" pitchFamily="34" charset="-122"/>
                <a:cs typeface="Raleway" pitchFamily="34" charset="-120"/>
              </a:rPr>
              <a:t>Actuation Layer</a:t>
            </a:r>
            <a:endParaRPr lang="en-US" sz="1200" dirty="0"/>
          </a:p>
        </p:txBody>
      </p:sp>
      <p:sp>
        <p:nvSpPr>
          <p:cNvPr id="29" name="Text 21"/>
          <p:cNvSpPr/>
          <p:nvPr/>
        </p:nvSpPr>
        <p:spPr>
          <a:xfrm>
            <a:off x="577835" y="4108235"/>
            <a:ext cx="4018953" cy="56952"/>
          </a:xfrm>
          <a:prstGeom prst="rect">
            <a:avLst/>
          </a:prstGeom>
          <a:noFill/>
          <a:ln/>
        </p:spPr>
        <p:txBody>
          <a:bodyPr wrap="none" lIns="0" tIns="0" rIns="0" bIns="0" rtlCol="0" anchor="t"/>
          <a:lstStyle/>
          <a:p>
            <a:pPr marL="0" indent="0" algn="l">
              <a:lnSpc>
                <a:spcPct val="88000"/>
              </a:lnSpc>
              <a:buNone/>
            </a:pPr>
            <a:r>
              <a:rPr lang="en-US" sz="1200" dirty="0">
                <a:solidFill>
                  <a:srgbClr val="FFFFFF"/>
                </a:solidFill>
                <a:latin typeface="Roboto" pitchFamily="34" charset="0"/>
                <a:ea typeface="Roboto" pitchFamily="34" charset="-122"/>
                <a:cs typeface="Roboto" pitchFamily="34" charset="-120"/>
              </a:rPr>
              <a:t>Relay Module → Lights &amp; Fan</a:t>
            </a:r>
            <a:endParaRPr lang="en-US" sz="1200" dirty="0"/>
          </a:p>
        </p:txBody>
      </p:sp>
      <p:pic>
        <p:nvPicPr>
          <p:cNvPr id="30" name="Image 6" descr="preencoded.png"/>
          <p:cNvPicPr>
            <a:picLocks noChangeAspect="1"/>
          </p:cNvPicPr>
          <p:nvPr/>
        </p:nvPicPr>
        <p:blipFill>
          <a:blip r:embed="rId9"/>
          <a:stretch>
            <a:fillRect/>
          </a:stretch>
        </p:blipFill>
        <p:spPr>
          <a:xfrm>
            <a:off x="4957774" y="1309885"/>
            <a:ext cx="4347657" cy="49408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523107"/>
            <a:ext cx="10868745" cy="335955"/>
          </a:xfrm>
          <a:prstGeom prst="rect">
            <a:avLst/>
          </a:prstGeom>
          <a:noFill/>
          <a:ln/>
        </p:spPr>
        <p:txBody>
          <a:bodyPr wrap="none" lIns="0" tIns="0" rIns="0" bIns="0" rtlCol="0" anchor="t"/>
          <a:lstStyle/>
          <a:p>
            <a:pPr marL="0" indent="0" algn="l">
              <a:lnSpc>
                <a:spcPct val="104000"/>
              </a:lnSpc>
              <a:buNone/>
            </a:pPr>
            <a:r>
              <a:rPr lang="en-US" sz="2100" dirty="0">
                <a:solidFill>
                  <a:srgbClr val="1B1B27"/>
                </a:solidFill>
                <a:latin typeface="Raleway" pitchFamily="34" charset="0"/>
                <a:ea typeface="Raleway" pitchFamily="34" charset="-122"/>
                <a:cs typeface="Raleway" pitchFamily="34" charset="-120"/>
              </a:rPr>
              <a:t>Expected Outcomes and Future Scope</a:t>
            </a:r>
            <a:endParaRPr lang="en-US" sz="2100" dirty="0"/>
          </a:p>
        </p:txBody>
      </p:sp>
      <p:sp>
        <p:nvSpPr>
          <p:cNvPr id="3" name="Text 1"/>
          <p:cNvSpPr/>
          <p:nvPr/>
        </p:nvSpPr>
        <p:spPr>
          <a:xfrm>
            <a:off x="661475" y="2033687"/>
            <a:ext cx="5303308" cy="167878"/>
          </a:xfrm>
          <a:prstGeom prst="rect">
            <a:avLst/>
          </a:prstGeom>
          <a:noFill/>
          <a:ln/>
        </p:spPr>
        <p:txBody>
          <a:bodyPr wrap="none" lIns="0" tIns="0" rIns="0" bIns="0" rtlCol="0" anchor="t"/>
          <a:lstStyle/>
          <a:p>
            <a:pPr marL="0" indent="0" algn="l">
              <a:lnSpc>
                <a:spcPct val="104000"/>
              </a:lnSpc>
              <a:buNone/>
            </a:pPr>
            <a:r>
              <a:rPr lang="en-US" sz="1050" dirty="0">
                <a:solidFill>
                  <a:srgbClr val="1B1B27"/>
                </a:solidFill>
                <a:latin typeface="Raleway" pitchFamily="34" charset="0"/>
                <a:ea typeface="Raleway" pitchFamily="34" charset="-122"/>
                <a:cs typeface="Raleway" pitchFamily="34" charset="-120"/>
              </a:rPr>
              <a:t>Expected Outcomes</a:t>
            </a:r>
            <a:endParaRPr lang="en-US" sz="1050" dirty="0"/>
          </a:p>
        </p:txBody>
      </p:sp>
      <p:sp>
        <p:nvSpPr>
          <p:cNvPr id="4" name="Shape 2"/>
          <p:cNvSpPr/>
          <p:nvPr/>
        </p:nvSpPr>
        <p:spPr>
          <a:xfrm>
            <a:off x="661475" y="2280146"/>
            <a:ext cx="2616730" cy="890984"/>
          </a:xfrm>
          <a:prstGeom prst="roundRect">
            <a:avLst>
              <a:gd name="adj" fmla="val 5068"/>
            </a:avLst>
          </a:prstGeom>
          <a:solidFill>
            <a:srgbClr val="E1E1EA"/>
          </a:solidFill>
          <a:ln w="6350">
            <a:solidFill>
              <a:srgbClr val="C7C7D0"/>
            </a:solidFill>
            <a:prstDash val="solid"/>
          </a:ln>
        </p:spPr>
      </p:sp>
      <p:sp>
        <p:nvSpPr>
          <p:cNvPr id="5" name="Text 3"/>
          <p:cNvSpPr/>
          <p:nvPr/>
        </p:nvSpPr>
        <p:spPr>
          <a:xfrm>
            <a:off x="775276" y="2393950"/>
            <a:ext cx="2389128"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Automated Classroom Monitoring</a:t>
            </a:r>
            <a:endParaRPr lang="en-US" sz="1050" dirty="0"/>
          </a:p>
        </p:txBody>
      </p:sp>
      <p:sp>
        <p:nvSpPr>
          <p:cNvPr id="6" name="Text 4"/>
          <p:cNvSpPr/>
          <p:nvPr/>
        </p:nvSpPr>
        <p:spPr>
          <a:xfrm>
            <a:off x="775276" y="2631678"/>
            <a:ext cx="2389128" cy="425648"/>
          </a:xfrm>
          <a:prstGeom prst="rect">
            <a:avLst/>
          </a:prstGeom>
          <a:noFill/>
          <a:ln/>
        </p:spPr>
        <p:txBody>
          <a:bodyPr wrap="square" lIns="0" tIns="0" rIns="0" bIns="0" rtlCol="0" anchor="t">
            <a:normAutofit/>
          </a:bodyPr>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Continuous, sensor-driven occupancy and environment tracking without any manual intervention.</a:t>
            </a:r>
            <a:endParaRPr lang="en-US" sz="800" dirty="0"/>
          </a:p>
        </p:txBody>
      </p:sp>
      <p:sp>
        <p:nvSpPr>
          <p:cNvPr id="7" name="Shape 5"/>
          <p:cNvSpPr/>
          <p:nvPr/>
        </p:nvSpPr>
        <p:spPr>
          <a:xfrm>
            <a:off x="3348053" y="2280146"/>
            <a:ext cx="2616730" cy="890984"/>
          </a:xfrm>
          <a:prstGeom prst="roundRect">
            <a:avLst>
              <a:gd name="adj" fmla="val 5068"/>
            </a:avLst>
          </a:prstGeom>
          <a:solidFill>
            <a:srgbClr val="E1E1EA"/>
          </a:solidFill>
          <a:ln w="6350">
            <a:solidFill>
              <a:srgbClr val="C7C7D0"/>
            </a:solidFill>
            <a:prstDash val="solid"/>
          </a:ln>
        </p:spPr>
      </p:sp>
      <p:sp>
        <p:nvSpPr>
          <p:cNvPr id="8" name="Text 6"/>
          <p:cNvSpPr/>
          <p:nvPr/>
        </p:nvSpPr>
        <p:spPr>
          <a:xfrm>
            <a:off x="3461854" y="2393950"/>
            <a:ext cx="2389128"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Reduced Electricity Wastage</a:t>
            </a:r>
            <a:endParaRPr lang="en-US" sz="1050" dirty="0"/>
          </a:p>
        </p:txBody>
      </p:sp>
      <p:sp>
        <p:nvSpPr>
          <p:cNvPr id="9" name="Text 7"/>
          <p:cNvSpPr/>
          <p:nvPr/>
        </p:nvSpPr>
        <p:spPr>
          <a:xfrm>
            <a:off x="3461854" y="2631678"/>
            <a:ext cx="2389128" cy="425648"/>
          </a:xfrm>
          <a:prstGeom prst="rect">
            <a:avLst/>
          </a:prstGeom>
          <a:noFill/>
          <a:ln/>
        </p:spPr>
        <p:txBody>
          <a:bodyPr wrap="square" lIns="0" tIns="0" rIns="0" bIns="0" rtlCol="0" anchor="t">
            <a:normAutofit/>
          </a:bodyPr>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Appliances automatically switched OFF in unoccupied classrooms, directly lowering energy consumption.</a:t>
            </a:r>
            <a:endParaRPr lang="en-US" sz="800" dirty="0"/>
          </a:p>
        </p:txBody>
      </p:sp>
      <p:sp>
        <p:nvSpPr>
          <p:cNvPr id="10" name="Shape 8"/>
          <p:cNvSpPr/>
          <p:nvPr/>
        </p:nvSpPr>
        <p:spPr>
          <a:xfrm>
            <a:off x="661475" y="3240980"/>
            <a:ext cx="2616730" cy="890984"/>
          </a:xfrm>
          <a:prstGeom prst="roundRect">
            <a:avLst>
              <a:gd name="adj" fmla="val 5068"/>
            </a:avLst>
          </a:prstGeom>
          <a:solidFill>
            <a:srgbClr val="E1E1EA"/>
          </a:solidFill>
          <a:ln w="6350">
            <a:solidFill>
              <a:srgbClr val="C7C7D0"/>
            </a:solidFill>
            <a:prstDash val="solid"/>
          </a:ln>
        </p:spPr>
      </p:sp>
      <p:sp>
        <p:nvSpPr>
          <p:cNvPr id="11" name="Text 9"/>
          <p:cNvSpPr/>
          <p:nvPr/>
        </p:nvSpPr>
        <p:spPr>
          <a:xfrm>
            <a:off x="775276" y="3354784"/>
            <a:ext cx="2389128"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Real-Time Environmental Monitoring</a:t>
            </a:r>
            <a:endParaRPr lang="en-US" sz="1050" dirty="0"/>
          </a:p>
        </p:txBody>
      </p:sp>
      <p:sp>
        <p:nvSpPr>
          <p:cNvPr id="12" name="Text 10"/>
          <p:cNvSpPr/>
          <p:nvPr/>
        </p:nvSpPr>
        <p:spPr>
          <a:xfrm>
            <a:off x="775276" y="3592513"/>
            <a:ext cx="2389128" cy="425648"/>
          </a:xfrm>
          <a:prstGeom prst="rect">
            <a:avLst/>
          </a:prstGeom>
          <a:noFill/>
          <a:ln/>
        </p:spPr>
        <p:txBody>
          <a:bodyPr wrap="square" lIns="0" tIns="0" rIns="0" bIns="0" rtlCol="0" anchor="t">
            <a:normAutofit/>
          </a:bodyPr>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Live temperature, humidity, and illumination data accessible to all administrators via web dashboard.</a:t>
            </a:r>
            <a:endParaRPr lang="en-US" sz="800" dirty="0"/>
          </a:p>
        </p:txBody>
      </p:sp>
      <p:sp>
        <p:nvSpPr>
          <p:cNvPr id="13" name="Shape 11"/>
          <p:cNvSpPr/>
          <p:nvPr/>
        </p:nvSpPr>
        <p:spPr>
          <a:xfrm>
            <a:off x="3348053" y="3240980"/>
            <a:ext cx="2616730" cy="890984"/>
          </a:xfrm>
          <a:prstGeom prst="roundRect">
            <a:avLst>
              <a:gd name="adj" fmla="val 5068"/>
            </a:avLst>
          </a:prstGeom>
          <a:solidFill>
            <a:srgbClr val="E1E1EA"/>
          </a:solidFill>
          <a:ln w="6350">
            <a:solidFill>
              <a:srgbClr val="C7C7D0"/>
            </a:solidFill>
            <a:prstDash val="solid"/>
          </a:ln>
        </p:spPr>
      </p:sp>
      <p:sp>
        <p:nvSpPr>
          <p:cNvPr id="14" name="Text 12"/>
          <p:cNvSpPr/>
          <p:nvPr/>
        </p:nvSpPr>
        <p:spPr>
          <a:xfrm>
            <a:off x="3461854" y="3354784"/>
            <a:ext cx="2389128"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Improved Energy Efficiency</a:t>
            </a:r>
            <a:endParaRPr lang="en-US" sz="1050" dirty="0"/>
          </a:p>
        </p:txBody>
      </p:sp>
      <p:sp>
        <p:nvSpPr>
          <p:cNvPr id="15" name="Text 13"/>
          <p:cNvSpPr/>
          <p:nvPr/>
        </p:nvSpPr>
        <p:spPr>
          <a:xfrm>
            <a:off x="3461854" y="3592513"/>
            <a:ext cx="2389128" cy="283766"/>
          </a:xfrm>
          <a:prstGeom prst="rect">
            <a:avLst/>
          </a:prstGeom>
          <a:noFill/>
          <a:ln/>
        </p:spPr>
        <p:txBody>
          <a:bodyPr wrap="square" lIns="0" tIns="0" rIns="0" bIns="0" rtlCol="0" anchor="t">
            <a:normAutofit/>
          </a:bodyPr>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Data-driven appliance control optimizes usage patterns across the entire institution.</a:t>
            </a:r>
            <a:endParaRPr lang="en-US" sz="800" dirty="0"/>
          </a:p>
        </p:txBody>
      </p:sp>
      <p:sp>
        <p:nvSpPr>
          <p:cNvPr id="16" name="Shape 14"/>
          <p:cNvSpPr/>
          <p:nvPr/>
        </p:nvSpPr>
        <p:spPr>
          <a:xfrm>
            <a:off x="661475" y="4201815"/>
            <a:ext cx="5303308" cy="607219"/>
          </a:xfrm>
          <a:prstGeom prst="roundRect">
            <a:avLst>
              <a:gd name="adj" fmla="val 7436"/>
            </a:avLst>
          </a:prstGeom>
          <a:solidFill>
            <a:srgbClr val="E1E1EA"/>
          </a:solidFill>
          <a:ln w="6350">
            <a:solidFill>
              <a:srgbClr val="C7C7D0"/>
            </a:solidFill>
            <a:prstDash val="solid"/>
          </a:ln>
        </p:spPr>
      </p:sp>
      <p:sp>
        <p:nvSpPr>
          <p:cNvPr id="17" name="Text 15"/>
          <p:cNvSpPr/>
          <p:nvPr/>
        </p:nvSpPr>
        <p:spPr>
          <a:xfrm>
            <a:off x="775276" y="4315619"/>
            <a:ext cx="5075706" cy="167878"/>
          </a:xfrm>
          <a:prstGeom prst="rect">
            <a:avLst/>
          </a:prstGeom>
          <a:noFill/>
          <a:ln/>
        </p:spPr>
        <p:txBody>
          <a:bodyPr wrap="none" lIns="0" tIns="0" rIns="0" bIns="0" rtlCol="0" anchor="t"/>
          <a:lstStyle/>
          <a:p>
            <a:pPr marL="0" indent="0" algn="l">
              <a:lnSpc>
                <a:spcPct val="104000"/>
              </a:lnSpc>
              <a:buNone/>
            </a:pPr>
            <a:r>
              <a:rPr lang="en-US" sz="1050" dirty="0">
                <a:solidFill>
                  <a:srgbClr val="3C3939"/>
                </a:solidFill>
                <a:latin typeface="Raleway" pitchFamily="34" charset="0"/>
                <a:ea typeface="Raleway" pitchFamily="34" charset="-122"/>
                <a:cs typeface="Raleway" pitchFamily="34" charset="-120"/>
              </a:rPr>
              <a:t>Cloud-Based Monitoring Dashboard</a:t>
            </a:r>
            <a:endParaRPr lang="en-US" sz="1050" dirty="0"/>
          </a:p>
        </p:txBody>
      </p:sp>
      <p:sp>
        <p:nvSpPr>
          <p:cNvPr id="18" name="Text 16"/>
          <p:cNvSpPr/>
          <p:nvPr/>
        </p:nvSpPr>
        <p:spPr>
          <a:xfrm>
            <a:off x="775276" y="4553347"/>
            <a:ext cx="5075706" cy="141883"/>
          </a:xfrm>
          <a:prstGeom prst="rect">
            <a:avLst/>
          </a:prstGeom>
          <a:noFill/>
          <a:ln/>
        </p:spPr>
        <p:txBody>
          <a:bodyPr wrap="none" lIns="0" tIns="0" rIns="0" bIns="0" rtlCol="0" anchor="t"/>
          <a:lstStyle/>
          <a:p>
            <a:pPr marL="0" indent="0" algn="l">
              <a:lnSpc>
                <a:spcPct val="110000"/>
              </a:lnSpc>
              <a:buNone/>
            </a:pPr>
            <a:r>
              <a:rPr lang="en-US" sz="800" dirty="0">
                <a:solidFill>
                  <a:srgbClr val="3C3939"/>
                </a:solidFill>
                <a:latin typeface="Roboto" pitchFamily="34" charset="0"/>
                <a:ea typeface="Roboto" pitchFamily="34" charset="-122"/>
                <a:cs typeface="Roboto" pitchFamily="34" charset="-120"/>
              </a:rPr>
              <a:t>Centralized, remotely accessible interface for viewing real-time classroom status from anywhere.</a:t>
            </a:r>
            <a:endParaRPr lang="en-US" sz="800" dirty="0"/>
          </a:p>
        </p:txBody>
      </p:sp>
      <p:sp>
        <p:nvSpPr>
          <p:cNvPr id="19" name="Shape 17"/>
          <p:cNvSpPr/>
          <p:nvPr/>
        </p:nvSpPr>
        <p:spPr>
          <a:xfrm>
            <a:off x="6155873" y="1963837"/>
            <a:ext cx="5458085" cy="3371056"/>
          </a:xfrm>
          <a:prstGeom prst="roundRect">
            <a:avLst>
              <a:gd name="adj" fmla="val 2296"/>
            </a:avLst>
          </a:prstGeom>
          <a:solidFill>
            <a:srgbClr val="1B1B27">
              <a:alpha val="95000"/>
            </a:srgbClr>
          </a:solidFill>
          <a:ln/>
        </p:spPr>
      </p:sp>
      <p:sp>
        <p:nvSpPr>
          <p:cNvPr id="20" name="Text 18"/>
          <p:cNvSpPr/>
          <p:nvPr/>
        </p:nvSpPr>
        <p:spPr>
          <a:xfrm>
            <a:off x="6263325" y="2033687"/>
            <a:ext cx="5243183"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Future Scope</a:t>
            </a:r>
            <a:endParaRPr lang="en-US" sz="1050" dirty="0"/>
          </a:p>
        </p:txBody>
      </p:sp>
      <p:pic>
        <p:nvPicPr>
          <p:cNvPr id="21"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606" y="2283470"/>
            <a:ext cx="161226" cy="161230"/>
          </a:xfrm>
          <a:prstGeom prst="rect">
            <a:avLst/>
          </a:prstGeom>
        </p:spPr>
      </p:pic>
      <p:sp>
        <p:nvSpPr>
          <p:cNvPr id="22" name="Text 19"/>
          <p:cNvSpPr/>
          <p:nvPr/>
        </p:nvSpPr>
        <p:spPr>
          <a:xfrm>
            <a:off x="6612566" y="2280146"/>
            <a:ext cx="4893942"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Mobile Application</a:t>
            </a:r>
            <a:endParaRPr lang="en-US" sz="1050" dirty="0"/>
          </a:p>
        </p:txBody>
      </p:sp>
      <p:sp>
        <p:nvSpPr>
          <p:cNvPr id="23" name="Text 20"/>
          <p:cNvSpPr/>
          <p:nvPr/>
        </p:nvSpPr>
        <p:spPr>
          <a:xfrm>
            <a:off x="6612566" y="2517874"/>
            <a:ext cx="4893942"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Android/iOS app for on-the-go classroom monitoring and direct appliance control.</a:t>
            </a:r>
            <a:endParaRPr lang="en-US" sz="800" dirty="0"/>
          </a:p>
        </p:txBody>
      </p:sp>
      <p:pic>
        <p:nvPicPr>
          <p:cNvPr id="2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606" y="2802781"/>
            <a:ext cx="161226" cy="161230"/>
          </a:xfrm>
          <a:prstGeom prst="rect">
            <a:avLst/>
          </a:prstGeom>
        </p:spPr>
      </p:pic>
      <p:sp>
        <p:nvSpPr>
          <p:cNvPr id="25" name="Text 21"/>
          <p:cNvSpPr/>
          <p:nvPr/>
        </p:nvSpPr>
        <p:spPr>
          <a:xfrm>
            <a:off x="6612566" y="2799457"/>
            <a:ext cx="4893942"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MQTT Protocol</a:t>
            </a:r>
            <a:endParaRPr lang="en-US" sz="1050" dirty="0"/>
          </a:p>
        </p:txBody>
      </p:sp>
      <p:sp>
        <p:nvSpPr>
          <p:cNvPr id="26" name="Text 22"/>
          <p:cNvSpPr/>
          <p:nvPr/>
        </p:nvSpPr>
        <p:spPr>
          <a:xfrm>
            <a:off x="6612566" y="3037185"/>
            <a:ext cx="4893942"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Replace HTTP with MQTT for lower latency and a lightweight IoT communication standard.</a:t>
            </a:r>
            <a:endParaRPr lang="en-US" sz="800" dirty="0"/>
          </a:p>
        </p:txBody>
      </p:sp>
      <p:pic>
        <p:nvPicPr>
          <p:cNvPr id="27"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606" y="3322092"/>
            <a:ext cx="161226" cy="161230"/>
          </a:xfrm>
          <a:prstGeom prst="rect">
            <a:avLst/>
          </a:prstGeom>
        </p:spPr>
      </p:pic>
      <p:sp>
        <p:nvSpPr>
          <p:cNvPr id="28" name="Text 23"/>
          <p:cNvSpPr/>
          <p:nvPr/>
        </p:nvSpPr>
        <p:spPr>
          <a:xfrm>
            <a:off x="6612566" y="3318768"/>
            <a:ext cx="4893942"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Energy Usage Analytics</a:t>
            </a:r>
            <a:endParaRPr lang="en-US" sz="1050" dirty="0"/>
          </a:p>
        </p:txBody>
      </p:sp>
      <p:sp>
        <p:nvSpPr>
          <p:cNvPr id="29" name="Text 24"/>
          <p:cNvSpPr/>
          <p:nvPr/>
        </p:nvSpPr>
        <p:spPr>
          <a:xfrm>
            <a:off x="6612566" y="3556496"/>
            <a:ext cx="4893942"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Historical consumption reports and trend analysis supporting institutional energy audits.</a:t>
            </a:r>
            <a:endParaRPr lang="en-US" sz="800" dirty="0"/>
          </a:p>
        </p:txBody>
      </p:sp>
      <p:pic>
        <p:nvPicPr>
          <p:cNvPr id="30"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606" y="3841403"/>
            <a:ext cx="161226" cy="161230"/>
          </a:xfrm>
          <a:prstGeom prst="rect">
            <a:avLst/>
          </a:prstGeom>
        </p:spPr>
      </p:pic>
      <p:sp>
        <p:nvSpPr>
          <p:cNvPr id="31" name="Text 25"/>
          <p:cNvSpPr/>
          <p:nvPr/>
        </p:nvSpPr>
        <p:spPr>
          <a:xfrm>
            <a:off x="6612566" y="3838079"/>
            <a:ext cx="4893942"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Smart Campus Integration</a:t>
            </a:r>
            <a:endParaRPr lang="en-US" sz="1050" dirty="0"/>
          </a:p>
        </p:txBody>
      </p:sp>
      <p:sp>
        <p:nvSpPr>
          <p:cNvPr id="32" name="Text 26"/>
          <p:cNvSpPr/>
          <p:nvPr/>
        </p:nvSpPr>
        <p:spPr>
          <a:xfrm>
            <a:off x="6612566" y="4075807"/>
            <a:ext cx="4893942"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Connect with existing ERP, timetable, and access control systems for unified campus management.</a:t>
            </a:r>
            <a:endParaRPr lang="en-US" sz="800" dirty="0"/>
          </a:p>
        </p:txBody>
      </p:sp>
      <p:pic>
        <p:nvPicPr>
          <p:cNvPr id="33"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606" y="4360714"/>
            <a:ext cx="161226" cy="161230"/>
          </a:xfrm>
          <a:prstGeom prst="rect">
            <a:avLst/>
          </a:prstGeom>
        </p:spPr>
      </p:pic>
      <p:sp>
        <p:nvSpPr>
          <p:cNvPr id="34" name="Text 27"/>
          <p:cNvSpPr/>
          <p:nvPr/>
        </p:nvSpPr>
        <p:spPr>
          <a:xfrm>
            <a:off x="6612566" y="4357390"/>
            <a:ext cx="4893942"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AI-Based Occupancy Prediction</a:t>
            </a:r>
            <a:endParaRPr lang="en-US" sz="1050" dirty="0"/>
          </a:p>
        </p:txBody>
      </p:sp>
      <p:sp>
        <p:nvSpPr>
          <p:cNvPr id="35" name="Text 28"/>
          <p:cNvSpPr/>
          <p:nvPr/>
        </p:nvSpPr>
        <p:spPr>
          <a:xfrm>
            <a:off x="6612566" y="4595118"/>
            <a:ext cx="4893942"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Machine learning models to predict classroom usage and pre-schedule appliance states proactively.</a:t>
            </a:r>
            <a:endParaRPr lang="en-US" sz="800" dirty="0"/>
          </a:p>
        </p:txBody>
      </p:sp>
      <p:pic>
        <p:nvPicPr>
          <p:cNvPr id="36"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606" y="4880025"/>
            <a:ext cx="161226" cy="161230"/>
          </a:xfrm>
          <a:prstGeom prst="rect">
            <a:avLst/>
          </a:prstGeom>
        </p:spPr>
      </p:pic>
      <p:sp>
        <p:nvSpPr>
          <p:cNvPr id="37" name="Text 29"/>
          <p:cNvSpPr/>
          <p:nvPr/>
        </p:nvSpPr>
        <p:spPr>
          <a:xfrm>
            <a:off x="6612566" y="4876701"/>
            <a:ext cx="4893942" cy="16787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Multi-Classroom Deployment</a:t>
            </a:r>
            <a:endParaRPr lang="en-US" sz="1050" dirty="0"/>
          </a:p>
        </p:txBody>
      </p:sp>
      <p:sp>
        <p:nvSpPr>
          <p:cNvPr id="38" name="Text 30"/>
          <p:cNvSpPr/>
          <p:nvPr/>
        </p:nvSpPr>
        <p:spPr>
          <a:xfrm>
            <a:off x="6612566" y="5114429"/>
            <a:ext cx="4893942" cy="141883"/>
          </a:xfrm>
          <a:prstGeom prst="rect">
            <a:avLst/>
          </a:prstGeom>
          <a:noFill/>
          <a:ln/>
        </p:spPr>
        <p:txBody>
          <a:bodyPr wrap="none" lIns="0" tIns="0" rIns="0" bIns="0" rtlCol="0" anchor="t"/>
          <a:lstStyle/>
          <a:p>
            <a:pPr marL="0" indent="0" algn="l">
              <a:lnSpc>
                <a:spcPct val="110000"/>
              </a:lnSpc>
              <a:buNone/>
            </a:pPr>
            <a:r>
              <a:rPr lang="en-US" sz="800" dirty="0">
                <a:solidFill>
                  <a:srgbClr val="FFFFFF"/>
                </a:solidFill>
                <a:latin typeface="Roboto" pitchFamily="34" charset="0"/>
                <a:ea typeface="Roboto" pitchFamily="34" charset="-122"/>
                <a:cs typeface="Roboto" pitchFamily="34" charset="-120"/>
              </a:rPr>
              <a:t>Scale architecture to monitor entire buildings or full campuses from a single unified dashboard.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61133"/>
            <a:ext cx="10868745" cy="465138"/>
          </a:xfrm>
          <a:prstGeom prst="rect">
            <a:avLst/>
          </a:prstGeom>
          <a:noFill/>
          <a:ln/>
        </p:spPr>
        <p:txBody>
          <a:bodyPr wrap="none" lIns="0" tIns="0" rIns="0" bIns="0" rtlCol="0" anchor="t"/>
          <a:lstStyle/>
          <a:p>
            <a:pPr marL="0" indent="0" algn="l">
              <a:lnSpc>
                <a:spcPct val="104000"/>
              </a:lnSpc>
              <a:buNone/>
            </a:pPr>
            <a:r>
              <a:rPr lang="en-US" sz="2900" dirty="0">
                <a:solidFill>
                  <a:srgbClr val="1B1B27"/>
                </a:solidFill>
                <a:latin typeface="Raleway" pitchFamily="34" charset="0"/>
                <a:ea typeface="Raleway" pitchFamily="34" charset="-122"/>
                <a:cs typeface="Raleway" pitchFamily="34" charset="-120"/>
              </a:rPr>
              <a:t>References</a:t>
            </a:r>
            <a:endParaRPr lang="en-US" sz="2900" dirty="0"/>
          </a:p>
        </p:txBody>
      </p:sp>
      <p:sp>
        <p:nvSpPr>
          <p:cNvPr id="3" name="Text 1"/>
          <p:cNvSpPr/>
          <p:nvPr/>
        </p:nvSpPr>
        <p:spPr>
          <a:xfrm>
            <a:off x="661475" y="2494161"/>
            <a:ext cx="11478330" cy="226219"/>
          </a:xfrm>
          <a:prstGeom prst="rect">
            <a:avLst/>
          </a:prstGeom>
          <a:noFill/>
          <a:ln/>
        </p:spPr>
        <p:txBody>
          <a:bodyPr wrap="none" lIns="0" tIns="0" rIns="0" bIns="0" rtlCol="0" anchor="t"/>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a:t>
            </a:r>
            <a:endParaRPr lang="en-US" sz="1150" dirty="0"/>
          </a:p>
        </p:txBody>
      </p:sp>
      <p:sp>
        <p:nvSpPr>
          <p:cNvPr id="4" name="Shape 2"/>
          <p:cNvSpPr/>
          <p:nvPr/>
        </p:nvSpPr>
        <p:spPr>
          <a:xfrm>
            <a:off x="661475" y="2908300"/>
            <a:ext cx="10868745" cy="19050"/>
          </a:xfrm>
          <a:prstGeom prst="roundRect">
            <a:avLst>
              <a:gd name="adj" fmla="val 59999"/>
            </a:avLst>
          </a:prstGeom>
          <a:solidFill>
            <a:srgbClr val="3C3939">
              <a:alpha val="50000"/>
            </a:srgbClr>
          </a:solidFill>
          <a:ln/>
        </p:spPr>
      </p:sp>
      <p:sp>
        <p:nvSpPr>
          <p:cNvPr id="5" name="Shape 3"/>
          <p:cNvSpPr/>
          <p:nvPr/>
        </p:nvSpPr>
        <p:spPr>
          <a:xfrm>
            <a:off x="661475" y="3115270"/>
            <a:ext cx="334855" cy="334863"/>
          </a:xfrm>
          <a:prstGeom prst="roundRect">
            <a:avLst>
              <a:gd name="adj" fmla="val 18670"/>
            </a:avLst>
          </a:prstGeom>
          <a:solidFill>
            <a:srgbClr val="E1E1EA"/>
          </a:solidFill>
          <a:ln w="6350">
            <a:solidFill>
              <a:srgbClr val="C7C7D0"/>
            </a:solidFill>
            <a:prstDash val="solid"/>
          </a:ln>
        </p:spPr>
      </p:sp>
      <p:sp>
        <p:nvSpPr>
          <p:cNvPr id="6" name="Text 4"/>
          <p:cNvSpPr/>
          <p:nvPr/>
        </p:nvSpPr>
        <p:spPr>
          <a:xfrm>
            <a:off x="717234" y="3143101"/>
            <a:ext cx="223237" cy="279102"/>
          </a:xfrm>
          <a:prstGeom prst="rect">
            <a:avLst/>
          </a:prstGeom>
          <a:noFill/>
          <a:ln/>
        </p:spPr>
        <p:txBody>
          <a:bodyPr wrap="none" lIns="0" tIns="0" rIns="0" bIns="0" rtlCol="0" anchor="ctr"/>
          <a:lstStyle/>
          <a:p>
            <a:pPr marL="0" indent="0" algn="ctr">
              <a:lnSpc>
                <a:spcPct val="100000"/>
              </a:lnSpc>
              <a:buNone/>
            </a:pPr>
            <a:r>
              <a:rPr lang="en-US" sz="1750" dirty="0">
                <a:solidFill>
                  <a:srgbClr val="3C3939"/>
                </a:solidFill>
                <a:latin typeface="Raleway" pitchFamily="34" charset="0"/>
                <a:ea typeface="Raleway" pitchFamily="34" charset="-122"/>
                <a:cs typeface="Raleway" pitchFamily="34" charset="-120"/>
              </a:rPr>
              <a:t>1</a:t>
            </a:r>
            <a:endParaRPr lang="en-US" sz="1750" dirty="0"/>
          </a:p>
        </p:txBody>
      </p:sp>
      <p:sp>
        <p:nvSpPr>
          <p:cNvPr id="7" name="Text 5"/>
          <p:cNvSpPr/>
          <p:nvPr/>
        </p:nvSpPr>
        <p:spPr>
          <a:xfrm>
            <a:off x="1130272" y="3163590"/>
            <a:ext cx="3042467" cy="1357313"/>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T. H. Noor, S. Zeadally, A. Alfazi, and Q. Z. Sheng, "An IoT-Based Energy Conservation Smart Classroom System," </a:t>
            </a:r>
            <a:r>
              <a:rPr lang="en-US" sz="1150" i="1" dirty="0">
                <a:solidFill>
                  <a:srgbClr val="3C3939"/>
                </a:solidFill>
                <a:latin typeface="Roboto" pitchFamily="34" charset="0"/>
                <a:ea typeface="Roboto" pitchFamily="34" charset="-122"/>
                <a:cs typeface="Roboto" pitchFamily="34" charset="-120"/>
              </a:rPr>
              <a:t>Intelligent Automation &amp; Soft Computing</a:t>
            </a:r>
            <a:r>
              <a:rPr lang="en-US" sz="1150" dirty="0">
                <a:solidFill>
                  <a:srgbClr val="3C3939"/>
                </a:solidFill>
                <a:latin typeface="Roboto" pitchFamily="34" charset="0"/>
                <a:ea typeface="Roboto" pitchFamily="34" charset="-122"/>
                <a:cs typeface="Roboto" pitchFamily="34" charset="-120"/>
              </a:rPr>
              <a:t>, vol. 36, no. 2, pp. 1–15, 2023. doi: 10.32604/iasc.2023.XXXXX</a:t>
            </a:r>
            <a:endParaRPr lang="en-US" sz="1150" dirty="0"/>
          </a:p>
        </p:txBody>
      </p:sp>
      <p:sp>
        <p:nvSpPr>
          <p:cNvPr id="8" name="Shape 6"/>
          <p:cNvSpPr/>
          <p:nvPr/>
        </p:nvSpPr>
        <p:spPr>
          <a:xfrm>
            <a:off x="4340116" y="3115270"/>
            <a:ext cx="334855" cy="334863"/>
          </a:xfrm>
          <a:prstGeom prst="roundRect">
            <a:avLst>
              <a:gd name="adj" fmla="val 18670"/>
            </a:avLst>
          </a:prstGeom>
          <a:solidFill>
            <a:srgbClr val="E1E1EA"/>
          </a:solidFill>
          <a:ln w="6350">
            <a:solidFill>
              <a:srgbClr val="C7C7D0"/>
            </a:solidFill>
            <a:prstDash val="solid"/>
          </a:ln>
        </p:spPr>
      </p:sp>
      <p:sp>
        <p:nvSpPr>
          <p:cNvPr id="9" name="Text 7"/>
          <p:cNvSpPr/>
          <p:nvPr/>
        </p:nvSpPr>
        <p:spPr>
          <a:xfrm>
            <a:off x="4395876" y="3143101"/>
            <a:ext cx="223237" cy="279102"/>
          </a:xfrm>
          <a:prstGeom prst="rect">
            <a:avLst/>
          </a:prstGeom>
          <a:noFill/>
          <a:ln/>
        </p:spPr>
        <p:txBody>
          <a:bodyPr wrap="none" lIns="0" tIns="0" rIns="0" bIns="0" rtlCol="0" anchor="ctr"/>
          <a:lstStyle/>
          <a:p>
            <a:pPr marL="0" indent="0" algn="ctr">
              <a:lnSpc>
                <a:spcPct val="100000"/>
              </a:lnSpc>
              <a:buNone/>
            </a:pPr>
            <a:r>
              <a:rPr lang="en-US" sz="1750" dirty="0">
                <a:solidFill>
                  <a:srgbClr val="3C3939"/>
                </a:solidFill>
                <a:latin typeface="Raleway" pitchFamily="34" charset="0"/>
                <a:ea typeface="Raleway" pitchFamily="34" charset="-122"/>
                <a:cs typeface="Raleway" pitchFamily="34" charset="-120"/>
              </a:rPr>
              <a:t>2</a:t>
            </a:r>
            <a:endParaRPr lang="en-US" sz="1750" dirty="0"/>
          </a:p>
        </p:txBody>
      </p:sp>
      <p:sp>
        <p:nvSpPr>
          <p:cNvPr id="10" name="Text 8"/>
          <p:cNvSpPr/>
          <p:nvPr/>
        </p:nvSpPr>
        <p:spPr>
          <a:xfrm>
            <a:off x="4808913" y="3163590"/>
            <a:ext cx="3042566" cy="1131094"/>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S. Y. Park, J. H. Kim, and D. H. Lee, "Design and Implementation of an IoT-Based Smart Classroom Incubator," </a:t>
            </a:r>
            <a:r>
              <a:rPr lang="en-US" sz="1150" i="1" dirty="0">
                <a:solidFill>
                  <a:srgbClr val="3C3939"/>
                </a:solidFill>
                <a:latin typeface="Roboto" pitchFamily="34" charset="0"/>
                <a:ea typeface="Roboto" pitchFamily="34" charset="-122"/>
                <a:cs typeface="Roboto" pitchFamily="34" charset="-120"/>
              </a:rPr>
              <a:t>Applied Sciences</a:t>
            </a:r>
            <a:r>
              <a:rPr lang="en-US" sz="1150" dirty="0">
                <a:solidFill>
                  <a:srgbClr val="3C3939"/>
                </a:solidFill>
                <a:latin typeface="Roboto" pitchFamily="34" charset="0"/>
                <a:ea typeface="Roboto" pitchFamily="34" charset="-122"/>
                <a:cs typeface="Roboto" pitchFamily="34" charset="-120"/>
              </a:rPr>
              <a:t>, vol. 12, no. 4, p. 2023, 2022. doi: 10.3390/app12042023</a:t>
            </a:r>
            <a:endParaRPr lang="en-US" sz="1150" dirty="0"/>
          </a:p>
        </p:txBody>
      </p:sp>
      <p:sp>
        <p:nvSpPr>
          <p:cNvPr id="11" name="Shape 9"/>
          <p:cNvSpPr/>
          <p:nvPr/>
        </p:nvSpPr>
        <p:spPr>
          <a:xfrm>
            <a:off x="8018857" y="3115270"/>
            <a:ext cx="334855" cy="334863"/>
          </a:xfrm>
          <a:prstGeom prst="roundRect">
            <a:avLst>
              <a:gd name="adj" fmla="val 18670"/>
            </a:avLst>
          </a:prstGeom>
          <a:solidFill>
            <a:srgbClr val="E1E1EA"/>
          </a:solidFill>
          <a:ln w="6350">
            <a:solidFill>
              <a:srgbClr val="C7C7D0"/>
            </a:solidFill>
            <a:prstDash val="solid"/>
          </a:ln>
        </p:spPr>
      </p:sp>
      <p:sp>
        <p:nvSpPr>
          <p:cNvPr id="12" name="Text 10"/>
          <p:cNvSpPr/>
          <p:nvPr/>
        </p:nvSpPr>
        <p:spPr>
          <a:xfrm>
            <a:off x="8074617" y="3143101"/>
            <a:ext cx="223237" cy="279102"/>
          </a:xfrm>
          <a:prstGeom prst="rect">
            <a:avLst/>
          </a:prstGeom>
          <a:noFill/>
          <a:ln/>
        </p:spPr>
        <p:txBody>
          <a:bodyPr wrap="none" lIns="0" tIns="0" rIns="0" bIns="0" rtlCol="0" anchor="ctr"/>
          <a:lstStyle/>
          <a:p>
            <a:pPr marL="0" indent="0" algn="ctr">
              <a:lnSpc>
                <a:spcPct val="100000"/>
              </a:lnSpc>
              <a:buNone/>
            </a:pPr>
            <a:r>
              <a:rPr lang="en-US" sz="1750" dirty="0">
                <a:solidFill>
                  <a:srgbClr val="3C3939"/>
                </a:solidFill>
                <a:latin typeface="Raleway" pitchFamily="34" charset="0"/>
                <a:ea typeface="Raleway" pitchFamily="34" charset="-122"/>
                <a:cs typeface="Raleway" pitchFamily="34" charset="-120"/>
              </a:rPr>
              <a:t>3</a:t>
            </a:r>
            <a:endParaRPr lang="en-US" sz="1750" dirty="0"/>
          </a:p>
        </p:txBody>
      </p:sp>
      <p:sp>
        <p:nvSpPr>
          <p:cNvPr id="13" name="Text 11"/>
          <p:cNvSpPr/>
          <p:nvPr/>
        </p:nvSpPr>
        <p:spPr>
          <a:xfrm>
            <a:off x="8487654" y="3163590"/>
            <a:ext cx="3042566" cy="1357313"/>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C3939"/>
                </a:solidFill>
                <a:latin typeface="Roboto" pitchFamily="34" charset="0"/>
                <a:ea typeface="Roboto" pitchFamily="34" charset="-122"/>
                <a:cs typeface="Roboto" pitchFamily="34" charset="-120"/>
              </a:rPr>
              <a:t>Y. Zhang, "College Smart Classroom Attendance Management System Based on Internet of Things," </a:t>
            </a:r>
            <a:r>
              <a:rPr lang="en-US" sz="1150" i="1" dirty="0">
                <a:solidFill>
                  <a:srgbClr val="3C3939"/>
                </a:solidFill>
                <a:latin typeface="Roboto" pitchFamily="34" charset="0"/>
                <a:ea typeface="Roboto" pitchFamily="34" charset="-122"/>
                <a:cs typeface="Roboto" pitchFamily="34" charset="-120"/>
              </a:rPr>
              <a:t>Computational Intelligence and Neuroscience</a:t>
            </a:r>
            <a:r>
              <a:rPr lang="en-US" sz="1150" dirty="0">
                <a:solidFill>
                  <a:srgbClr val="3C3939"/>
                </a:solidFill>
                <a:latin typeface="Roboto" pitchFamily="34" charset="0"/>
                <a:ea typeface="Roboto" pitchFamily="34" charset="-122"/>
                <a:cs typeface="Roboto" pitchFamily="34" charset="-120"/>
              </a:rPr>
              <a:t>, vol. 2022, Article ID 4369535, pp. 1–10, 2022. doi: 10.1155/2022/4369535</a:t>
            </a:r>
            <a:endParaRPr lang="en-US" sz="1150" dirty="0"/>
          </a:p>
        </p:txBody>
      </p:sp>
      <p:sp>
        <p:nvSpPr>
          <p:cNvPr id="14" name="Shape 12"/>
          <p:cNvSpPr/>
          <p:nvPr/>
        </p:nvSpPr>
        <p:spPr>
          <a:xfrm>
            <a:off x="653676" y="4821932"/>
            <a:ext cx="10868745" cy="19050"/>
          </a:xfrm>
          <a:prstGeom prst="roundRect">
            <a:avLst>
              <a:gd name="adj" fmla="val 59999"/>
            </a:avLst>
          </a:prstGeom>
          <a:solidFill>
            <a:srgbClr val="3C3939">
              <a:alpha val="50000"/>
            </a:srgbClr>
          </a:solidFill>
          <a:ln/>
        </p:spPr>
      </p:sp>
      <p:sp>
        <p:nvSpPr>
          <p:cNvPr id="15" name="Text 13"/>
          <p:cNvSpPr/>
          <p:nvPr/>
        </p:nvSpPr>
        <p:spPr>
          <a:xfrm>
            <a:off x="356682" y="4915793"/>
            <a:ext cx="11478330" cy="180975"/>
          </a:xfrm>
          <a:prstGeom prst="rect">
            <a:avLst/>
          </a:prstGeom>
          <a:noFill/>
          <a:ln/>
        </p:spPr>
        <p:txBody>
          <a:bodyPr wrap="none" lIns="0" tIns="0" rIns="0" bIns="0" rtlCol="0" anchor="t"/>
          <a:lstStyle/>
          <a:p>
            <a:pPr marL="0" indent="0" algn="ctr">
              <a:lnSpc>
                <a:spcPct val="127000"/>
              </a:lnSpc>
              <a:buNone/>
            </a:pPr>
            <a:r>
              <a:rPr lang="en-US" sz="900" dirty="0">
                <a:solidFill>
                  <a:srgbClr val="3C3939"/>
                </a:solidFill>
                <a:latin typeface="Roboto" pitchFamily="34" charset="0"/>
                <a:ea typeface="Roboto" pitchFamily="34" charset="-122"/>
                <a:cs typeface="Roboto" pitchFamily="34" charset="-120"/>
              </a:rPr>
              <a:t>Soya Pradeep · MAC25MCA-2052 · CampusPulse: Smart Classroom Monitoring and Energy Management · Mini Project Proposal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1036</TotalTime>
  <Words>1609</Words>
  <Application>Microsoft Office PowerPoint</Application>
  <PresentationFormat>Widescreen</PresentationFormat>
  <Paragraphs>192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Roboto</vt:lpstr>
      <vt:lpstr>Arial</vt:lpstr>
      <vt:lpstr>Calibri</vt:lpstr>
      <vt:lpstr>Raleway Light</vt:lpstr>
      <vt:lpstr>Raleway</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Soya Pradeep</cp:lastModifiedBy>
  <cp:revision>7</cp:revision>
  <dcterms:created xsi:type="dcterms:W3CDTF">2026-07-20T12:34:20Z</dcterms:created>
  <dcterms:modified xsi:type="dcterms:W3CDTF">2026-07-21T05:50:43Z</dcterms:modified>
</cp:coreProperties>
</file>